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AE176-7ED3-4708-B240-F2A52534D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8B5B30-2DCA-4540-9B03-F65A43CE2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7F136A-F356-498E-80FC-8B2AC5C2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FC237-BF64-40BC-A7B0-4B1120D4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490ADE-508D-4ACF-AC3E-EC82536A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382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3CD81-488A-47BA-9788-14F15594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E7A567-D51F-4BC2-8CE9-C87CED2E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B7F8AA-A039-48A8-BA2B-1CEF4F72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6CB65B-B217-486C-943F-726FC389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1644EB-660E-4102-8DBE-82C08C5A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70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2BBCD-98AA-4446-AD13-1FEF92F54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A9129E-F38C-4F24-93FA-B85AE759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EFEEF-3D2B-49E3-9828-DDF3838E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E102B-945E-446E-99B3-147430CA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476A3-46A0-434D-94EE-837A079C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53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FA48E-49D3-48F7-B156-EAB1378F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B4CF76-4107-41E7-967F-E68FE7881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E50C77-88E9-4EEE-A554-76314D565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21B880-CF70-467B-9679-D3E07FB8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6FBD97-E41C-4B71-A70F-F613DBF6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F7E0C3-2054-438A-B6EF-04A6EE58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80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7B72F-AFDB-4D21-85E9-5164E786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A84523-7602-47C1-9314-4DCDDA72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00FA33-E6E4-4F23-992C-B12D8ECBF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AB584E-0A0C-43EB-A61A-E825BBAC7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895DC6-34DE-4DAC-9A9B-40472B7E5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6B88D1-D3D1-49FF-AA5C-D3C95AE2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26A72F-78D4-4A1A-970F-460C8AD2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965E9FD-AEC7-4719-8915-3321D56A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035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4D78F-D6B9-4A5C-B077-85A5CADE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F7B4D9-5D17-486B-8491-6ADB045F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E02D5D-FD20-43A5-BAD2-3D968921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5D2037-0C31-40AC-816C-44165378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38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77434E-6501-495A-8CFF-739DF9FE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542C18-7090-4D1F-9F02-86CEF76E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885D7-EAC1-4252-95AB-995B9957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2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AC79AD-ADEB-4C8B-B61F-67E505E4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7AD1B8-B51A-4A28-B806-AF71777F0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BCFC01-0618-4A65-8CF1-E7230D948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48A8B-B8D1-4975-89D5-1564CB2E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B0293E-412D-4EB8-89A8-EC3F03BA0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D5FEB-F19A-4ADC-8276-465E9E07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96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D6F40-8387-46A0-A8AE-0C1F957E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00487A-8C44-4BE3-B951-24374B727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0427F-82BB-4C29-890B-485CB36E0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B40B00-7A5E-4901-A8E1-2E0DC0AD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B5E4E0-6B76-42E3-A11A-8EE225AF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63621A-4C17-4FF3-8554-78FEB685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0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90DCC-9EC8-46E3-8DA1-E1FA4982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15A967-EABD-4529-A7AA-463403D34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295B1-00A7-4C67-B000-9450B53C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EC9E3-F561-40C0-9E7F-CB548C12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A36CD3-E325-4817-9C0D-DCB3746B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86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FFFA07-0F27-4EEA-8FDB-481875EA9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D0F09B-F1D9-45E3-AAC8-61AA29982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BB785-9F88-4432-AFD2-1DE860E20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16D711-CB34-491D-A9DE-3EDA4E6D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A3159-3636-4FAD-B095-0581143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64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C4B96D-3206-4276-9915-D636CDDF3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ECECDD-FA7E-4113-BC9F-BAD1BEFC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CE56C7-386E-4F44-A3BB-D2B8B1A0FA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66379-7DD9-4D98-B19E-2F0342DAB067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87369-F994-4040-8EF6-61ACBF1A6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3660A-CF42-41C8-950F-5EE054506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4C7D2-5386-45A4-8CDE-B4D9FAECB7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85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2180672" y="398207"/>
            <a:ext cx="9937588" cy="6386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33F86E9-E16F-4B8E-89A4-782EC6663DC0}"/>
              </a:ext>
            </a:extLst>
          </p:cNvPr>
          <p:cNvSpPr/>
          <p:nvPr/>
        </p:nvSpPr>
        <p:spPr>
          <a:xfrm>
            <a:off x="2301894" y="1154552"/>
            <a:ext cx="1481070" cy="13347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3A3810-B582-4D0A-91AD-787A037B17A0}"/>
              </a:ext>
            </a:extLst>
          </p:cNvPr>
          <p:cNvSpPr txBox="1"/>
          <p:nvPr/>
        </p:nvSpPr>
        <p:spPr>
          <a:xfrm>
            <a:off x="2383213" y="1266251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Nginx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9DF29DF-4B8D-4F74-A9E6-DB1212CB5A14}"/>
              </a:ext>
            </a:extLst>
          </p:cNvPr>
          <p:cNvSpPr/>
          <p:nvPr/>
        </p:nvSpPr>
        <p:spPr>
          <a:xfrm>
            <a:off x="4629297" y="1488978"/>
            <a:ext cx="1647640" cy="6756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6319BA-C7E5-4A00-A37D-BEEBF8DD0A60}"/>
              </a:ext>
            </a:extLst>
          </p:cNvPr>
          <p:cNvSpPr txBox="1"/>
          <p:nvPr/>
        </p:nvSpPr>
        <p:spPr>
          <a:xfrm>
            <a:off x="4755726" y="1642421"/>
            <a:ext cx="14912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SpringBoot.war</a:t>
            </a:r>
            <a:endParaRPr lang="ko-KR" altLang="en-US" sz="1500" dirty="0"/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FDC7ECD-C0CE-45A4-B9FF-94D952450187}"/>
              </a:ext>
            </a:extLst>
          </p:cNvPr>
          <p:cNvCxnSpPr>
            <a:cxnSpLocks/>
            <a:stCxn id="66" idx="3"/>
            <a:endCxn id="74" idx="1"/>
          </p:cNvCxnSpPr>
          <p:nvPr/>
        </p:nvCxnSpPr>
        <p:spPr>
          <a:xfrm>
            <a:off x="3782964" y="1821917"/>
            <a:ext cx="846333" cy="490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50A60C0-042F-4A9A-A8CC-7392E6FC7B1D}"/>
              </a:ext>
            </a:extLst>
          </p:cNvPr>
          <p:cNvCxnSpPr>
            <a:cxnSpLocks/>
            <a:stCxn id="74" idx="3"/>
            <a:endCxn id="64" idx="1"/>
          </p:cNvCxnSpPr>
          <p:nvPr/>
        </p:nvCxnSpPr>
        <p:spPr>
          <a:xfrm>
            <a:off x="6276937" y="1826820"/>
            <a:ext cx="718786" cy="1560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D32153E-09D0-4FBE-AC5E-0CA2C85BB31B}"/>
              </a:ext>
            </a:extLst>
          </p:cNvPr>
          <p:cNvSpPr txBox="1"/>
          <p:nvPr/>
        </p:nvSpPr>
        <p:spPr>
          <a:xfrm>
            <a:off x="-299" y="21354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Browser 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1519CB9-89D9-4042-B843-4A6ABBB605C0}"/>
              </a:ext>
            </a:extLst>
          </p:cNvPr>
          <p:cNvGrpSpPr/>
          <p:nvPr/>
        </p:nvGrpSpPr>
        <p:grpSpPr>
          <a:xfrm>
            <a:off x="205772" y="542512"/>
            <a:ext cx="1017684" cy="925462"/>
            <a:chOff x="2394920" y="587468"/>
            <a:chExt cx="4215605" cy="3430859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FE3943-CFE9-4396-9328-6FAC42ED686D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CDF3429-AAE9-4BB4-A59C-7638025759DF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845ADD-C5A3-44F3-AA90-6A65F1F7A892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5B7823F7-7957-4814-A49D-25E36632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582873"/>
            <a:ext cx="755561" cy="7789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B67F69A-3FFC-41B0-8DAA-8211C0B8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" y="582873"/>
            <a:ext cx="199032" cy="8898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6FD3B44-00EF-4277-BA94-D90C9EA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8237" y="608788"/>
            <a:ext cx="918768" cy="9438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35A1384-67DD-4735-BFEB-3387EC6C6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49" y="681989"/>
            <a:ext cx="753325" cy="7588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9558DD-842E-4B84-B69F-140D6D83D2BF}"/>
              </a:ext>
            </a:extLst>
          </p:cNvPr>
          <p:cNvSpPr/>
          <p:nvPr/>
        </p:nvSpPr>
        <p:spPr>
          <a:xfrm>
            <a:off x="7044908" y="2667899"/>
            <a:ext cx="16687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-gateway</a:t>
            </a:r>
          </a:p>
          <a:p>
            <a:endParaRPr lang="en-US" altLang="ko-KR" dirty="0"/>
          </a:p>
          <a:p>
            <a:r>
              <a:rPr lang="en-US" altLang="ko-KR" dirty="0" err="1"/>
              <a:t>Uvicorn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9B2814-D97C-4FB7-901D-94CAE94E8651}"/>
              </a:ext>
            </a:extLst>
          </p:cNvPr>
          <p:cNvSpPr/>
          <p:nvPr/>
        </p:nvSpPr>
        <p:spPr>
          <a:xfrm>
            <a:off x="20278" y="4196577"/>
            <a:ext cx="9701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-client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CE58-635F-427C-BAB3-0EAB6AAA8910}"/>
              </a:ext>
            </a:extLst>
          </p:cNvPr>
          <p:cNvSpPr/>
          <p:nvPr/>
        </p:nvSpPr>
        <p:spPr>
          <a:xfrm>
            <a:off x="20278" y="3887109"/>
            <a:ext cx="1032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-admin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B9309E-D3F8-4CC7-9F5B-14BBF2992B1A}"/>
              </a:ext>
            </a:extLst>
          </p:cNvPr>
          <p:cNvSpPr/>
          <p:nvPr/>
        </p:nvSpPr>
        <p:spPr>
          <a:xfrm>
            <a:off x="6995723" y="1847316"/>
            <a:ext cx="5007079" cy="30796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34BF19-5339-423F-836C-135842875E39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1223456" y="1048206"/>
            <a:ext cx="1078438" cy="7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D900DA-7280-479E-9D50-7EC7692FE32C}"/>
              </a:ext>
            </a:extLst>
          </p:cNvPr>
          <p:cNvSpPr txBox="1"/>
          <p:nvPr/>
        </p:nvSpPr>
        <p:spPr>
          <a:xfrm>
            <a:off x="2202194" y="35757"/>
            <a:ext cx="28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Windows 2022 Server VM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0983CD-9CA0-46B0-B16F-8A956D4CC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428" y="761206"/>
            <a:ext cx="691792" cy="689711"/>
          </a:xfrm>
          <a:prstGeom prst="rect">
            <a:avLst/>
          </a:prstGeom>
        </p:spPr>
      </p:pic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4614901-F508-4C80-8221-030EDDF63A4F}"/>
              </a:ext>
            </a:extLst>
          </p:cNvPr>
          <p:cNvCxnSpPr>
            <a:cxnSpLocks/>
            <a:stCxn id="74" idx="3"/>
            <a:endCxn id="17" idx="1"/>
          </p:cNvCxnSpPr>
          <p:nvPr/>
        </p:nvCxnSpPr>
        <p:spPr>
          <a:xfrm flipV="1">
            <a:off x="6276937" y="1106062"/>
            <a:ext cx="2305491" cy="720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611DF07-814A-49CB-AA98-79024DBD5646}"/>
              </a:ext>
            </a:extLst>
          </p:cNvPr>
          <p:cNvSpPr txBox="1"/>
          <p:nvPr/>
        </p:nvSpPr>
        <p:spPr>
          <a:xfrm>
            <a:off x="8413852" y="480612"/>
            <a:ext cx="119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Refresh Token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50B71-2778-4442-AFA4-DAF8F5FF46F1}"/>
              </a:ext>
            </a:extLst>
          </p:cNvPr>
          <p:cNvSpPr txBox="1"/>
          <p:nvPr/>
        </p:nvSpPr>
        <p:spPr>
          <a:xfrm>
            <a:off x="2231126" y="2144528"/>
            <a:ext cx="17860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Dist</a:t>
            </a:r>
            <a:r>
              <a:rPr lang="en-US" altLang="ko-KR" sz="1500" dirty="0"/>
              <a:t>/</a:t>
            </a:r>
            <a:r>
              <a:rPr lang="en-US" altLang="ko-KR" sz="1500" dirty="0" err="1"/>
              <a:t>staticFiles</a:t>
            </a:r>
            <a:endParaRPr lang="ko-KR" altLang="en-US" sz="15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1E4EF-25A1-407C-AF04-F10FE8E2ADD5}"/>
              </a:ext>
            </a:extLst>
          </p:cNvPr>
          <p:cNvSpPr/>
          <p:nvPr/>
        </p:nvSpPr>
        <p:spPr>
          <a:xfrm>
            <a:off x="10230068" y="145309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-Modules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7C60FC7-599F-4F0E-9426-088559D3DEE9}"/>
              </a:ext>
            </a:extLst>
          </p:cNvPr>
          <p:cNvSpPr/>
          <p:nvPr/>
        </p:nvSpPr>
        <p:spPr>
          <a:xfrm>
            <a:off x="4251392" y="942559"/>
            <a:ext cx="2477650" cy="19709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CCD13-AC26-482F-ABD9-624F2D95A36D}"/>
              </a:ext>
            </a:extLst>
          </p:cNvPr>
          <p:cNvSpPr txBox="1"/>
          <p:nvPr/>
        </p:nvSpPr>
        <p:spPr>
          <a:xfrm>
            <a:off x="4112705" y="597923"/>
            <a:ext cx="115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Tomcat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C360AD-3405-4494-B327-8B62D6E80C38}"/>
              </a:ext>
            </a:extLst>
          </p:cNvPr>
          <p:cNvSpPr/>
          <p:nvPr/>
        </p:nvSpPr>
        <p:spPr>
          <a:xfrm>
            <a:off x="55447" y="3811516"/>
            <a:ext cx="1736272" cy="3141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3D081-EA23-484E-B1D9-6CC349B09847}"/>
              </a:ext>
            </a:extLst>
          </p:cNvPr>
          <p:cNvSpPr txBox="1"/>
          <p:nvPr/>
        </p:nvSpPr>
        <p:spPr>
          <a:xfrm>
            <a:off x="13276" y="4574675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</a:t>
            </a:r>
            <a:r>
              <a:rPr lang="en-US" altLang="ko-KR" sz="1200" dirty="0"/>
              <a:t>-edge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AA98C-E7EF-4B1F-9636-0E4FB60F1BAE}"/>
              </a:ext>
            </a:extLst>
          </p:cNvPr>
          <p:cNvSpPr txBox="1"/>
          <p:nvPr/>
        </p:nvSpPr>
        <p:spPr>
          <a:xfrm>
            <a:off x="12473" y="4929913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Imap-ms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8D5190-5FE1-443B-90DD-CC24EBADC9D3}"/>
              </a:ext>
            </a:extLst>
          </p:cNvPr>
          <p:cNvSpPr/>
          <p:nvPr/>
        </p:nvSpPr>
        <p:spPr>
          <a:xfrm>
            <a:off x="2288964" y="2443750"/>
            <a:ext cx="573059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 b="1" dirty="0" err="1"/>
              <a:t>server</a:t>
            </a:r>
            <a:r>
              <a:rPr lang="ko-KR" altLang="en-US" sz="900" b="1" dirty="0"/>
              <a:t> {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listen</a:t>
            </a:r>
            <a:r>
              <a:rPr lang="ko-KR" altLang="en-US" sz="900" b="1" dirty="0"/>
              <a:t> 80;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server_name</a:t>
            </a:r>
            <a:r>
              <a:rPr lang="ko-KR" altLang="en-US" sz="900" b="1" dirty="0"/>
              <a:t> 10.173.193.80;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# 1. 화면(정적 파일) 요청 수신</a:t>
            </a:r>
          </a:p>
          <a:p>
            <a:r>
              <a:rPr lang="ko-KR" altLang="en-US" sz="900" b="1" dirty="0">
                <a:solidFill>
                  <a:srgbClr val="C00000"/>
                </a:solidFill>
              </a:rPr>
              <a:t>    </a:t>
            </a:r>
            <a:r>
              <a:rPr lang="ko-KR" altLang="en-US" sz="900" b="1" dirty="0" err="1">
                <a:solidFill>
                  <a:srgbClr val="C00000"/>
                </a:solidFill>
              </a:rPr>
              <a:t>location</a:t>
            </a:r>
            <a:r>
              <a:rPr lang="ko-KR" altLang="en-US" sz="900" b="1" dirty="0">
                <a:solidFill>
                  <a:srgbClr val="C00000"/>
                </a:solidFill>
              </a:rPr>
              <a:t> /</a:t>
            </a:r>
            <a:r>
              <a:rPr lang="ko-KR" altLang="en-US" sz="900" b="1" dirty="0"/>
              <a:t> {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>
                <a:solidFill>
                  <a:srgbClr val="C00000"/>
                </a:solidFill>
              </a:rPr>
              <a:t>auth_request</a:t>
            </a:r>
            <a:r>
              <a:rPr lang="ko-KR" altLang="en-US" sz="900" b="1" dirty="0">
                <a:solidFill>
                  <a:srgbClr val="C00000"/>
                </a:solidFill>
              </a:rPr>
              <a:t> 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api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auth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check</a:t>
            </a:r>
            <a:r>
              <a:rPr lang="ko-KR" altLang="en-US" sz="900" b="1" dirty="0"/>
              <a:t>; # 먼저 스프링 부트에 인증을 확인해라!</a:t>
            </a:r>
          </a:p>
          <a:p>
            <a:r>
              <a:rPr lang="ko-KR" altLang="en-US" sz="900" b="1" dirty="0"/>
              <a:t>        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root</a:t>
            </a:r>
            <a:r>
              <a:rPr lang="ko-KR" altLang="en-US" sz="900" b="1" dirty="0"/>
              <a:t> /</a:t>
            </a:r>
            <a:r>
              <a:rPr lang="ko-KR" altLang="en-US" sz="900" b="1" dirty="0" err="1"/>
              <a:t>path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to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imap-client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dist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index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index.html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try_files</a:t>
            </a:r>
            <a:r>
              <a:rPr lang="ko-KR" altLang="en-US" sz="900" b="1" dirty="0"/>
              <a:t> $</a:t>
            </a:r>
            <a:r>
              <a:rPr lang="ko-KR" altLang="en-US" sz="900" b="1" dirty="0" err="1"/>
              <a:t>uri</a:t>
            </a:r>
            <a:r>
              <a:rPr lang="ko-KR" altLang="en-US" sz="900" b="1" dirty="0"/>
              <a:t> $</a:t>
            </a:r>
            <a:r>
              <a:rPr lang="ko-KR" altLang="en-US" sz="900" b="1" dirty="0" err="1"/>
              <a:t>uri</a:t>
            </a:r>
            <a:r>
              <a:rPr lang="ko-KR" altLang="en-US" sz="900" b="1" dirty="0"/>
              <a:t>/ /</a:t>
            </a:r>
            <a:r>
              <a:rPr lang="ko-KR" altLang="en-US" sz="900" b="1" dirty="0" err="1"/>
              <a:t>index.html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    }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# 2. </a:t>
            </a:r>
            <a:r>
              <a:rPr lang="ko-KR" altLang="en-US" sz="900" b="1" dirty="0" err="1"/>
              <a:t>Nginx가</a:t>
            </a:r>
            <a:r>
              <a:rPr lang="ko-KR" altLang="en-US" sz="900" b="1" dirty="0"/>
              <a:t> 내부적으로 호출할 인증 체크 경로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>
                <a:solidFill>
                  <a:srgbClr val="C00000"/>
                </a:solidFill>
              </a:rPr>
              <a:t>location</a:t>
            </a:r>
            <a:r>
              <a:rPr lang="ko-KR" altLang="en-US" sz="900" b="1" dirty="0">
                <a:solidFill>
                  <a:srgbClr val="C00000"/>
                </a:solidFill>
              </a:rPr>
              <a:t> = /</a:t>
            </a:r>
            <a:r>
              <a:rPr lang="ko-KR" altLang="en-US" sz="900" b="1" dirty="0" err="1">
                <a:solidFill>
                  <a:srgbClr val="C00000"/>
                </a:solidFill>
              </a:rPr>
              <a:t>api</a:t>
            </a:r>
            <a:r>
              <a:rPr lang="ko-KR" altLang="en-US" sz="900" b="1" dirty="0">
                <a:solidFill>
                  <a:srgbClr val="C00000"/>
                </a:solidFill>
              </a:rPr>
              <a:t>/</a:t>
            </a:r>
            <a:r>
              <a:rPr lang="ko-KR" altLang="en-US" sz="900" b="1" dirty="0" err="1">
                <a:solidFill>
                  <a:srgbClr val="C00000"/>
                </a:solidFill>
              </a:rPr>
              <a:t>auth</a:t>
            </a:r>
            <a:r>
              <a:rPr lang="ko-KR" altLang="en-US" sz="900" b="1" dirty="0">
                <a:solidFill>
                  <a:srgbClr val="C00000"/>
                </a:solidFill>
              </a:rPr>
              <a:t>/</a:t>
            </a:r>
            <a:r>
              <a:rPr lang="ko-KR" altLang="en-US" sz="900" b="1" dirty="0" err="1">
                <a:solidFill>
                  <a:srgbClr val="C00000"/>
                </a:solidFill>
              </a:rPr>
              <a:t>check</a:t>
            </a:r>
            <a:r>
              <a:rPr lang="ko-KR" altLang="en-US" sz="900" b="1" dirty="0">
                <a:solidFill>
                  <a:srgbClr val="C00000"/>
                </a:solidFill>
              </a:rPr>
              <a:t> </a:t>
            </a:r>
            <a:r>
              <a:rPr lang="ko-KR" altLang="en-US" sz="900" b="1" dirty="0"/>
              <a:t>{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internal</a:t>
            </a:r>
            <a:r>
              <a:rPr lang="ko-KR" altLang="en-US" sz="900" b="1" dirty="0"/>
              <a:t>; # 브라우저에서 직접 이 </a:t>
            </a:r>
            <a:r>
              <a:rPr lang="ko-KR" altLang="en-US" sz="900" b="1" dirty="0" err="1"/>
              <a:t>URL로</a:t>
            </a:r>
            <a:r>
              <a:rPr lang="ko-KR" altLang="en-US" sz="900" b="1" dirty="0"/>
              <a:t> 접근하는 것을 막아주는 보안 설정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proxy_pass</a:t>
            </a:r>
            <a:r>
              <a:rPr lang="ko-KR" altLang="en-US" sz="900" b="1" dirty="0"/>
              <a:t> http://10.173.193.80:</a:t>
            </a:r>
            <a:r>
              <a:rPr lang="en-US" altLang="ko-KR" sz="900" b="1" dirty="0"/>
              <a:t>8083</a:t>
            </a:r>
            <a:r>
              <a:rPr lang="ko-KR" altLang="en-US" sz="900" b="1" dirty="0"/>
              <a:t>/api/auth/check; # </a:t>
            </a:r>
            <a:r>
              <a:rPr lang="ko-KR" altLang="en-US" sz="900" b="1" dirty="0" err="1"/>
              <a:t>톰캣으로</a:t>
            </a:r>
            <a:r>
              <a:rPr lang="ko-KR" altLang="en-US" sz="900" b="1" dirty="0"/>
              <a:t> 포워딩</a:t>
            </a:r>
          </a:p>
          <a:p>
            <a:r>
              <a:rPr lang="ko-KR" altLang="en-US" sz="900" b="1" dirty="0"/>
              <a:t>        </a:t>
            </a:r>
          </a:p>
          <a:p>
            <a:r>
              <a:rPr lang="ko-KR" altLang="en-US" sz="900" b="1" dirty="0"/>
              <a:t>        # 브라우저가 보낸 쿠키나 세션 </a:t>
            </a:r>
            <a:r>
              <a:rPr lang="ko-KR" altLang="en-US" sz="900" b="1" dirty="0" err="1"/>
              <a:t>ID를</a:t>
            </a:r>
            <a:r>
              <a:rPr lang="ko-KR" altLang="en-US" sz="900" b="1" dirty="0"/>
              <a:t> 스프링 부트에 그대로 전달하기 위한 설정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proxy_pass_request_body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off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proxy_set_header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Content-Length</a:t>
            </a:r>
            <a:r>
              <a:rPr lang="ko-KR" altLang="en-US" sz="900" b="1" dirty="0"/>
              <a:t> "";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proxy_set_header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X</a:t>
            </a:r>
            <a:r>
              <a:rPr lang="ko-KR" altLang="en-US" sz="900" b="1" dirty="0"/>
              <a:t>-</a:t>
            </a:r>
            <a:r>
              <a:rPr lang="ko-KR" altLang="en-US" sz="900" b="1" dirty="0" err="1"/>
              <a:t>Original</a:t>
            </a:r>
            <a:r>
              <a:rPr lang="ko-KR" altLang="en-US" sz="900" b="1" dirty="0"/>
              <a:t>-URI $</a:t>
            </a:r>
            <a:r>
              <a:rPr lang="ko-KR" altLang="en-US" sz="900" b="1" dirty="0" err="1"/>
              <a:t>request_uri</a:t>
            </a:r>
            <a:r>
              <a:rPr lang="ko-KR" altLang="en-US" sz="900" b="1" dirty="0"/>
              <a:t>;</a:t>
            </a:r>
            <a:endParaRPr lang="en-US" altLang="ko-KR" sz="900" b="1" dirty="0"/>
          </a:p>
          <a:p>
            <a:r>
              <a:rPr lang="en-US" altLang="ko-KR" sz="900" b="1" dirty="0"/>
              <a:t>        </a:t>
            </a:r>
            <a:r>
              <a:rPr lang="en-US" altLang="ko-KR" sz="900" b="1" dirty="0" err="1"/>
              <a:t>proxy_set_header</a:t>
            </a:r>
            <a:r>
              <a:rPr lang="en-US" altLang="ko-KR" sz="900" b="1" dirty="0"/>
              <a:t> Authorization $</a:t>
            </a:r>
            <a:r>
              <a:rPr lang="en-US" altLang="ko-KR" sz="900" b="1" dirty="0" err="1"/>
              <a:t>http_authorization</a:t>
            </a:r>
            <a:r>
              <a:rPr lang="en-US" altLang="ko-KR" sz="900" b="1" dirty="0"/>
              <a:t>; </a:t>
            </a:r>
          </a:p>
          <a:p>
            <a:r>
              <a:rPr lang="en-US" altLang="ko-KR" sz="900" b="1" dirty="0"/>
              <a:t>        </a:t>
            </a:r>
            <a:r>
              <a:rPr lang="en-US" altLang="ko-KR" sz="900" b="1" dirty="0" err="1"/>
              <a:t>proxy_set_header</a:t>
            </a:r>
            <a:r>
              <a:rPr lang="en-US" altLang="ko-KR" sz="900" b="1" dirty="0"/>
              <a:t> Cookie $</a:t>
            </a:r>
            <a:r>
              <a:rPr lang="en-US" altLang="ko-KR" sz="900" b="1" dirty="0" err="1"/>
              <a:t>http_cookie</a:t>
            </a:r>
            <a:r>
              <a:rPr lang="en-US" altLang="ko-KR" sz="900" b="1" dirty="0"/>
              <a:t>; </a:t>
            </a:r>
            <a:endParaRPr lang="ko-KR" altLang="en-US" sz="900" b="1" dirty="0"/>
          </a:p>
          <a:p>
            <a:r>
              <a:rPr lang="ko-KR" altLang="en-US" sz="900" b="1" dirty="0"/>
              <a:t>    }</a:t>
            </a:r>
            <a:endParaRPr lang="en-US" altLang="ko-KR" sz="900" b="1" dirty="0"/>
          </a:p>
          <a:p>
            <a:endParaRPr lang="ko-KR" altLang="en-US" sz="900" dirty="0"/>
          </a:p>
          <a:p>
            <a:r>
              <a:rPr lang="en-US" altLang="ko-KR" sz="900" b="1" dirty="0"/>
              <a:t>    # </a:t>
            </a:r>
            <a:r>
              <a:rPr lang="ko-KR" altLang="en-US" sz="900" b="1" dirty="0"/>
              <a:t>빈 </a:t>
            </a:r>
            <a:r>
              <a:rPr lang="ko-KR" altLang="en-US" sz="900" b="1" dirty="0" err="1"/>
              <a:t>페이지만큼은</a:t>
            </a:r>
            <a:r>
              <a:rPr lang="ko-KR" altLang="en-US" sz="900" b="1" dirty="0"/>
              <a:t> 인증 체크 없이 접근할 수 있도록 분리 </a:t>
            </a:r>
            <a:endParaRPr lang="en-US" altLang="ko-KR" sz="900" b="1" dirty="0"/>
          </a:p>
          <a:p>
            <a:r>
              <a:rPr lang="en-US" altLang="ko-KR" sz="900" b="1" dirty="0"/>
              <a:t>    location /blank { root /path/to/</a:t>
            </a:r>
            <a:r>
              <a:rPr lang="en-US" altLang="ko-KR" sz="900" b="1" dirty="0" err="1"/>
              <a:t>imap</a:t>
            </a:r>
            <a:r>
              <a:rPr lang="en-US" altLang="ko-KR" sz="900" b="1" dirty="0"/>
              <a:t>-blank/</a:t>
            </a:r>
            <a:r>
              <a:rPr lang="en-US" altLang="ko-KR" sz="900" b="1" dirty="0" err="1"/>
              <a:t>dist</a:t>
            </a:r>
            <a:r>
              <a:rPr lang="en-US" altLang="ko-KR" sz="900" b="1" dirty="0"/>
              <a:t>; </a:t>
            </a:r>
            <a:r>
              <a:rPr lang="en-US" altLang="ko-KR" sz="900" b="1" dirty="0" err="1"/>
              <a:t>try_files</a:t>
            </a:r>
            <a:r>
              <a:rPr lang="en-US" altLang="ko-KR" sz="900" b="1" dirty="0"/>
              <a:t> $</a:t>
            </a:r>
            <a:r>
              <a:rPr lang="en-US" altLang="ko-KR" sz="900" b="1" dirty="0" err="1"/>
              <a:t>uri</a:t>
            </a:r>
            <a:r>
              <a:rPr lang="en-US" altLang="ko-KR" sz="900" b="1" dirty="0"/>
              <a:t> $</a:t>
            </a:r>
            <a:r>
              <a:rPr lang="en-US" altLang="ko-KR" sz="900" b="1" dirty="0" err="1"/>
              <a:t>uri</a:t>
            </a:r>
            <a:r>
              <a:rPr lang="en-US" altLang="ko-KR" sz="900" b="1" dirty="0"/>
              <a:t>/ /index.html; }</a:t>
            </a:r>
            <a:endParaRPr lang="ko-KR" altLang="en-US" sz="900" b="1" dirty="0"/>
          </a:p>
          <a:p>
            <a:r>
              <a:rPr lang="ko-KR" altLang="en-US" sz="900" b="1" dirty="0"/>
              <a:t>    # 3. 만약 401(</a:t>
            </a:r>
            <a:r>
              <a:rPr lang="ko-KR" altLang="en-US" sz="900" b="1" dirty="0" err="1"/>
              <a:t>미인증</a:t>
            </a:r>
            <a:r>
              <a:rPr lang="ko-KR" altLang="en-US" sz="900" b="1" dirty="0"/>
              <a:t>)이 </a:t>
            </a:r>
            <a:r>
              <a:rPr lang="ko-KR" altLang="en-US" sz="900" b="1" dirty="0" err="1"/>
              <a:t>리턴되면</a:t>
            </a:r>
            <a:r>
              <a:rPr lang="ko-KR" altLang="en-US" sz="900" b="1" dirty="0"/>
              <a:t> 빈 페이지로 </a:t>
            </a:r>
            <a:r>
              <a:rPr lang="ko-KR" altLang="en-US" sz="900" b="1" dirty="0" err="1"/>
              <a:t>리다이렉트</a:t>
            </a:r>
            <a:r>
              <a:rPr lang="ko-KR" altLang="en-US" sz="900" b="1" dirty="0"/>
              <a:t> 처리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error_page</a:t>
            </a:r>
            <a:r>
              <a:rPr lang="ko-KR" altLang="en-US" sz="900" b="1" dirty="0"/>
              <a:t> 401 = @error401;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location</a:t>
            </a:r>
            <a:r>
              <a:rPr lang="ko-KR" altLang="en-US" sz="900" b="1" dirty="0"/>
              <a:t> @error401 {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return</a:t>
            </a:r>
            <a:r>
              <a:rPr lang="ko-KR" altLang="en-US" sz="900" b="1" dirty="0"/>
              <a:t> 302 /</a:t>
            </a:r>
            <a:r>
              <a:rPr lang="en-US" altLang="ko-KR" sz="900" b="1" dirty="0"/>
              <a:t>blank</a:t>
            </a:r>
            <a:r>
              <a:rPr lang="ko-KR" altLang="en-US" sz="900" b="1" dirty="0"/>
              <a:t>; # 로그인 화면으로 보냄</a:t>
            </a:r>
          </a:p>
          <a:p>
            <a:r>
              <a:rPr lang="ko-KR" altLang="en-US" sz="900" b="1" dirty="0"/>
              <a:t>    }</a:t>
            </a:r>
          </a:p>
          <a:p>
            <a:r>
              <a:rPr lang="ko-KR" altLang="en-US" sz="900" b="1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07200-D3E0-49E5-9CE4-F031F1B56FA5}"/>
              </a:ext>
            </a:extLst>
          </p:cNvPr>
          <p:cNvSpPr txBox="1"/>
          <p:nvPr/>
        </p:nvSpPr>
        <p:spPr>
          <a:xfrm>
            <a:off x="205772" y="1635583"/>
            <a:ext cx="1404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</a:rPr>
              <a:t>10.173.193.80/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6B0C-F8D1-4717-BC2B-5B3D1B16CF25}"/>
              </a:ext>
            </a:extLst>
          </p:cNvPr>
          <p:cNvSpPr txBox="1"/>
          <p:nvPr/>
        </p:nvSpPr>
        <p:spPr>
          <a:xfrm>
            <a:off x="205772" y="1932311"/>
            <a:ext cx="1720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10.173.193.80/user/spawn</a:t>
            </a:r>
            <a:endParaRPr lang="ko-KR" altLang="en-US" sz="10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56FF4D6-54F8-4570-80B0-B21A7FD21C68}"/>
              </a:ext>
            </a:extLst>
          </p:cNvPr>
          <p:cNvSpPr/>
          <p:nvPr/>
        </p:nvSpPr>
        <p:spPr>
          <a:xfrm>
            <a:off x="7072176" y="2489280"/>
            <a:ext cx="1602896" cy="1365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A4312F5-F9B7-44A0-A367-C45D6FAF3392}"/>
              </a:ext>
            </a:extLst>
          </p:cNvPr>
          <p:cNvGrpSpPr/>
          <p:nvPr/>
        </p:nvGrpSpPr>
        <p:grpSpPr>
          <a:xfrm>
            <a:off x="10065991" y="1913506"/>
            <a:ext cx="1802614" cy="648052"/>
            <a:chOff x="10224629" y="2981648"/>
            <a:chExt cx="1802614" cy="648052"/>
          </a:xfrm>
        </p:grpSpPr>
        <p:sp>
          <p:nvSpPr>
            <p:cNvPr id="68" name="순서도: 자기 디스크 67">
              <a:extLst>
                <a:ext uri="{FF2B5EF4-FFF2-40B4-BE49-F238E27FC236}">
                  <a16:creationId xmlns:a16="http://schemas.microsoft.com/office/drawing/2014/main" id="{2D89C9B7-D87D-4221-8766-F2F761C0E837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8BC9A391-AEF8-45E0-AE1A-3586B0B4CDB6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A91204A-B801-453E-9586-E07D22BC3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7B2AD76-6E58-47CB-B339-A1E65993A3B9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74BCDD6-9EF3-4AA8-BE10-C8133752EBD2}"/>
              </a:ext>
            </a:extLst>
          </p:cNvPr>
          <p:cNvGrpSpPr/>
          <p:nvPr/>
        </p:nvGrpSpPr>
        <p:grpSpPr>
          <a:xfrm>
            <a:off x="10115131" y="2693166"/>
            <a:ext cx="1802614" cy="648052"/>
            <a:chOff x="10224629" y="2981648"/>
            <a:chExt cx="1802614" cy="648052"/>
          </a:xfrm>
        </p:grpSpPr>
        <p:sp>
          <p:nvSpPr>
            <p:cNvPr id="77" name="순서도: 자기 디스크 76">
              <a:extLst>
                <a:ext uri="{FF2B5EF4-FFF2-40B4-BE49-F238E27FC236}">
                  <a16:creationId xmlns:a16="http://schemas.microsoft.com/office/drawing/2014/main" id="{A89A80AA-5DE5-4C97-A929-9F7E4AEDA086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6E18FF04-2299-488B-BE20-6F1DD0891344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91662C71-BADC-48B4-9E35-7F3E2C00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6632146-2597-4AE4-B394-24E501EFDC8F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E1B3480-1DDA-45F0-B4BE-482179809A54}"/>
              </a:ext>
            </a:extLst>
          </p:cNvPr>
          <p:cNvGrpSpPr/>
          <p:nvPr/>
        </p:nvGrpSpPr>
        <p:grpSpPr>
          <a:xfrm>
            <a:off x="10115131" y="3487801"/>
            <a:ext cx="1802614" cy="648052"/>
            <a:chOff x="10224629" y="2981648"/>
            <a:chExt cx="1802614" cy="648052"/>
          </a:xfrm>
        </p:grpSpPr>
        <p:sp>
          <p:nvSpPr>
            <p:cNvPr id="87" name="순서도: 자기 디스크 86">
              <a:extLst>
                <a:ext uri="{FF2B5EF4-FFF2-40B4-BE49-F238E27FC236}">
                  <a16:creationId xmlns:a16="http://schemas.microsoft.com/office/drawing/2014/main" id="{49415403-A938-499B-8617-CD2C001CC3F1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F3922ADD-9785-4A68-9B01-47A190706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BD55615D-E410-490C-910D-83A7F4A87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39427EE-C2A1-4FDF-B3BE-4C35B6E95BF6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E4DE3B3-8D82-446D-B631-9A920219B22E}"/>
              </a:ext>
            </a:extLst>
          </p:cNvPr>
          <p:cNvGrpSpPr/>
          <p:nvPr/>
        </p:nvGrpSpPr>
        <p:grpSpPr>
          <a:xfrm>
            <a:off x="10157007" y="4329463"/>
            <a:ext cx="1802614" cy="648052"/>
            <a:chOff x="10224629" y="2981648"/>
            <a:chExt cx="1802614" cy="648052"/>
          </a:xfrm>
        </p:grpSpPr>
        <p:sp>
          <p:nvSpPr>
            <p:cNvPr id="94" name="순서도: 자기 디스크 93">
              <a:extLst>
                <a:ext uri="{FF2B5EF4-FFF2-40B4-BE49-F238E27FC236}">
                  <a16:creationId xmlns:a16="http://schemas.microsoft.com/office/drawing/2014/main" id="{CD1DEAC0-8D05-4CB3-8280-6D093F13DECE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D8FF9005-422F-4421-9DA0-8811F991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4256EA82-8EC7-41FB-9DDB-A0ADB7221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C55A6DC-5CB7-4116-84A1-CF45513645DA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6936B5D-099B-4709-BA04-6DCFCA8DD060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7873624" y="1506558"/>
            <a:ext cx="1137017" cy="98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906AEA6-1594-4DA7-8441-DC26800530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9071" y="2650834"/>
            <a:ext cx="1760958" cy="1128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8830EDA-025A-44AE-A879-D35564E2A5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6785" y="2843593"/>
            <a:ext cx="2028962" cy="999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3210A9-3D17-4B6C-8B07-31790A02674A}"/>
              </a:ext>
            </a:extLst>
          </p:cNvPr>
          <p:cNvSpPr txBox="1"/>
          <p:nvPr/>
        </p:nvSpPr>
        <p:spPr>
          <a:xfrm>
            <a:off x="2245014" y="947168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</a:t>
            </a:r>
            <a:endParaRPr lang="ko-KR" altLang="en-US" sz="11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98A865D-254D-426A-AB46-E4C8E4C6FB1F}"/>
              </a:ext>
            </a:extLst>
          </p:cNvPr>
          <p:cNvSpPr txBox="1"/>
          <p:nvPr/>
        </p:nvSpPr>
        <p:spPr>
          <a:xfrm>
            <a:off x="5044759" y="66520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:8083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426F31-0670-4E23-A565-B0E2F784A568}"/>
              </a:ext>
            </a:extLst>
          </p:cNvPr>
          <p:cNvSpPr txBox="1"/>
          <p:nvPr/>
        </p:nvSpPr>
        <p:spPr>
          <a:xfrm>
            <a:off x="16884" y="3463472"/>
            <a:ext cx="799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P-DEP</a:t>
            </a:r>
            <a:endParaRPr lang="ko-KR" altLang="en-US" sz="15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E5F26791-18AF-4BDB-89C7-F2E7D9AB73BC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1223456" y="2164661"/>
            <a:ext cx="4229661" cy="2535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9ECBCEDC-6E24-494A-AF7F-7B0D9538FBAF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1231406" y="4926989"/>
            <a:ext cx="8267857" cy="1479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7FC570B-2C33-47C3-8EBB-B9DD31E7921E}"/>
              </a:ext>
            </a:extLst>
          </p:cNvPr>
          <p:cNvSpPr txBox="1"/>
          <p:nvPr/>
        </p:nvSpPr>
        <p:spPr>
          <a:xfrm>
            <a:off x="9621042" y="1998056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:8200</a:t>
            </a:r>
            <a:endParaRPr lang="ko-KR" altLang="en-US" sz="11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C85490-33B0-425A-B2A1-017D0BC6480A}"/>
              </a:ext>
            </a:extLst>
          </p:cNvPr>
          <p:cNvSpPr txBox="1"/>
          <p:nvPr/>
        </p:nvSpPr>
        <p:spPr>
          <a:xfrm>
            <a:off x="9689513" y="2765635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:8300</a:t>
            </a:r>
            <a:endParaRPr lang="ko-KR" altLang="en-US" sz="11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C257F99-2B4A-4E05-A938-E3C371DB2BA2}"/>
              </a:ext>
            </a:extLst>
          </p:cNvPr>
          <p:cNvSpPr txBox="1"/>
          <p:nvPr/>
        </p:nvSpPr>
        <p:spPr>
          <a:xfrm>
            <a:off x="9667227" y="359795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:8400</a:t>
            </a:r>
            <a:endParaRPr lang="ko-KR" altLang="en-US" sz="11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3B89DD2-20B8-41E1-8B36-996DBE0F4E46}"/>
              </a:ext>
            </a:extLst>
          </p:cNvPr>
          <p:cNvSpPr txBox="1"/>
          <p:nvPr/>
        </p:nvSpPr>
        <p:spPr>
          <a:xfrm>
            <a:off x="7013976" y="2227670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:8100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2719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2180672" y="398207"/>
            <a:ext cx="9937588" cy="6386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33F86E9-E16F-4B8E-89A4-782EC6663DC0}"/>
              </a:ext>
            </a:extLst>
          </p:cNvPr>
          <p:cNvSpPr/>
          <p:nvPr/>
        </p:nvSpPr>
        <p:spPr>
          <a:xfrm>
            <a:off x="2301894" y="1154552"/>
            <a:ext cx="1481070" cy="13347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3A3810-B582-4D0A-91AD-787A037B17A0}"/>
              </a:ext>
            </a:extLst>
          </p:cNvPr>
          <p:cNvSpPr txBox="1"/>
          <p:nvPr/>
        </p:nvSpPr>
        <p:spPr>
          <a:xfrm>
            <a:off x="2383213" y="1266251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Nginx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9DF29DF-4B8D-4F74-A9E6-DB1212CB5A14}"/>
              </a:ext>
            </a:extLst>
          </p:cNvPr>
          <p:cNvSpPr/>
          <p:nvPr/>
        </p:nvSpPr>
        <p:spPr>
          <a:xfrm>
            <a:off x="4629297" y="1488978"/>
            <a:ext cx="1647640" cy="6756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FDC7ECD-C0CE-45A4-B9FF-94D952450187}"/>
              </a:ext>
            </a:extLst>
          </p:cNvPr>
          <p:cNvCxnSpPr>
            <a:cxnSpLocks/>
            <a:stCxn id="66" idx="3"/>
            <a:endCxn id="74" idx="1"/>
          </p:cNvCxnSpPr>
          <p:nvPr/>
        </p:nvCxnSpPr>
        <p:spPr>
          <a:xfrm>
            <a:off x="3782964" y="1821917"/>
            <a:ext cx="846333" cy="490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50A60C0-042F-4A9A-A8CC-7392E6FC7B1D}"/>
              </a:ext>
            </a:extLst>
          </p:cNvPr>
          <p:cNvCxnSpPr>
            <a:cxnSpLocks/>
            <a:stCxn id="74" idx="3"/>
            <a:endCxn id="64" idx="1"/>
          </p:cNvCxnSpPr>
          <p:nvPr/>
        </p:nvCxnSpPr>
        <p:spPr>
          <a:xfrm>
            <a:off x="6276937" y="1826820"/>
            <a:ext cx="718786" cy="1560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D32153E-09D0-4FBE-AC5E-0CA2C85BB31B}"/>
              </a:ext>
            </a:extLst>
          </p:cNvPr>
          <p:cNvSpPr txBox="1"/>
          <p:nvPr/>
        </p:nvSpPr>
        <p:spPr>
          <a:xfrm>
            <a:off x="-299" y="21354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Browser 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1519CB9-89D9-4042-B843-4A6ABBB605C0}"/>
              </a:ext>
            </a:extLst>
          </p:cNvPr>
          <p:cNvGrpSpPr/>
          <p:nvPr/>
        </p:nvGrpSpPr>
        <p:grpSpPr>
          <a:xfrm>
            <a:off x="205772" y="542512"/>
            <a:ext cx="1017684" cy="925462"/>
            <a:chOff x="2394920" y="587468"/>
            <a:chExt cx="4215605" cy="3430859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FE3943-CFE9-4396-9328-6FAC42ED686D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CDF3429-AAE9-4BB4-A59C-7638025759DF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845ADD-C5A3-44F3-AA90-6A65F1F7A892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5B7823F7-7957-4814-A49D-25E36632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582873"/>
            <a:ext cx="755561" cy="7789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B67F69A-3FFC-41B0-8DAA-8211C0B8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" y="582873"/>
            <a:ext cx="199032" cy="8898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6FD3B44-00EF-4277-BA94-D90C9EA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8237" y="608788"/>
            <a:ext cx="918768" cy="9438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35A1384-67DD-4735-BFEB-3387EC6C6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49" y="681989"/>
            <a:ext cx="753325" cy="7588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9558DD-842E-4B84-B69F-140D6D83D2BF}"/>
              </a:ext>
            </a:extLst>
          </p:cNvPr>
          <p:cNvSpPr/>
          <p:nvPr/>
        </p:nvSpPr>
        <p:spPr>
          <a:xfrm>
            <a:off x="7044908" y="2667899"/>
            <a:ext cx="16687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-gateway</a:t>
            </a:r>
          </a:p>
          <a:p>
            <a:endParaRPr lang="en-US" altLang="ko-KR" dirty="0"/>
          </a:p>
          <a:p>
            <a:r>
              <a:rPr lang="en-US" altLang="ko-KR" dirty="0" err="1"/>
              <a:t>Uvicorn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9B2814-D97C-4FB7-901D-94CAE94E8651}"/>
              </a:ext>
            </a:extLst>
          </p:cNvPr>
          <p:cNvSpPr/>
          <p:nvPr/>
        </p:nvSpPr>
        <p:spPr>
          <a:xfrm>
            <a:off x="20278" y="4196577"/>
            <a:ext cx="9701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-client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CE58-635F-427C-BAB3-0EAB6AAA8910}"/>
              </a:ext>
            </a:extLst>
          </p:cNvPr>
          <p:cNvSpPr/>
          <p:nvPr/>
        </p:nvSpPr>
        <p:spPr>
          <a:xfrm>
            <a:off x="20278" y="3887109"/>
            <a:ext cx="1032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-admin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B9309E-D3F8-4CC7-9F5B-14BBF2992B1A}"/>
              </a:ext>
            </a:extLst>
          </p:cNvPr>
          <p:cNvSpPr/>
          <p:nvPr/>
        </p:nvSpPr>
        <p:spPr>
          <a:xfrm>
            <a:off x="6995723" y="1847316"/>
            <a:ext cx="5007079" cy="30796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34BF19-5339-423F-836C-135842875E39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1223456" y="1048206"/>
            <a:ext cx="1078438" cy="7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D900DA-7280-479E-9D50-7EC7692FE32C}"/>
              </a:ext>
            </a:extLst>
          </p:cNvPr>
          <p:cNvSpPr txBox="1"/>
          <p:nvPr/>
        </p:nvSpPr>
        <p:spPr>
          <a:xfrm>
            <a:off x="2202194" y="35757"/>
            <a:ext cx="28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Windows 2022 Server VM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0983CD-9CA0-46B0-B16F-8A956D4CC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428" y="761206"/>
            <a:ext cx="691792" cy="689711"/>
          </a:xfrm>
          <a:prstGeom prst="rect">
            <a:avLst/>
          </a:prstGeom>
        </p:spPr>
      </p:pic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4614901-F508-4C80-8221-030EDDF63A4F}"/>
              </a:ext>
            </a:extLst>
          </p:cNvPr>
          <p:cNvCxnSpPr>
            <a:cxnSpLocks/>
            <a:stCxn id="74" idx="3"/>
            <a:endCxn id="17" idx="1"/>
          </p:cNvCxnSpPr>
          <p:nvPr/>
        </p:nvCxnSpPr>
        <p:spPr>
          <a:xfrm flipV="1">
            <a:off x="6276937" y="1106062"/>
            <a:ext cx="2305491" cy="720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611DF07-814A-49CB-AA98-79024DBD5646}"/>
              </a:ext>
            </a:extLst>
          </p:cNvPr>
          <p:cNvSpPr txBox="1"/>
          <p:nvPr/>
        </p:nvSpPr>
        <p:spPr>
          <a:xfrm>
            <a:off x="8413852" y="480612"/>
            <a:ext cx="119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Refresh Token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50B71-2778-4442-AFA4-DAF8F5FF46F1}"/>
              </a:ext>
            </a:extLst>
          </p:cNvPr>
          <p:cNvSpPr txBox="1"/>
          <p:nvPr/>
        </p:nvSpPr>
        <p:spPr>
          <a:xfrm>
            <a:off x="2231126" y="2144528"/>
            <a:ext cx="17860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Dist</a:t>
            </a:r>
            <a:r>
              <a:rPr lang="en-US" altLang="ko-KR" sz="1500" dirty="0"/>
              <a:t>/</a:t>
            </a:r>
            <a:r>
              <a:rPr lang="en-US" altLang="ko-KR" sz="1500" dirty="0" err="1"/>
              <a:t>staticFiles</a:t>
            </a:r>
            <a:endParaRPr lang="ko-KR" altLang="en-US" sz="15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1E4EF-25A1-407C-AF04-F10FE8E2ADD5}"/>
              </a:ext>
            </a:extLst>
          </p:cNvPr>
          <p:cNvSpPr/>
          <p:nvPr/>
        </p:nvSpPr>
        <p:spPr>
          <a:xfrm>
            <a:off x="10230068" y="145309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-Modules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7C60FC7-599F-4F0E-9426-088559D3DEE9}"/>
              </a:ext>
            </a:extLst>
          </p:cNvPr>
          <p:cNvSpPr/>
          <p:nvPr/>
        </p:nvSpPr>
        <p:spPr>
          <a:xfrm>
            <a:off x="4251392" y="942559"/>
            <a:ext cx="2477650" cy="19709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CCD13-AC26-482F-ABD9-624F2D95A36D}"/>
              </a:ext>
            </a:extLst>
          </p:cNvPr>
          <p:cNvSpPr txBox="1"/>
          <p:nvPr/>
        </p:nvSpPr>
        <p:spPr>
          <a:xfrm>
            <a:off x="4112705" y="597923"/>
            <a:ext cx="115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Tomcat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C360AD-3405-4494-B327-8B62D6E80C38}"/>
              </a:ext>
            </a:extLst>
          </p:cNvPr>
          <p:cNvSpPr/>
          <p:nvPr/>
        </p:nvSpPr>
        <p:spPr>
          <a:xfrm>
            <a:off x="55447" y="3811516"/>
            <a:ext cx="1736272" cy="2972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3D081-EA23-484E-B1D9-6CC349B09847}"/>
              </a:ext>
            </a:extLst>
          </p:cNvPr>
          <p:cNvSpPr txBox="1"/>
          <p:nvPr/>
        </p:nvSpPr>
        <p:spPr>
          <a:xfrm>
            <a:off x="13276" y="4574675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</a:t>
            </a:r>
            <a:r>
              <a:rPr lang="en-US" altLang="ko-KR" sz="1200" dirty="0"/>
              <a:t>-edge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AA98C-E7EF-4B1F-9636-0E4FB60F1BAE}"/>
              </a:ext>
            </a:extLst>
          </p:cNvPr>
          <p:cNvSpPr txBox="1"/>
          <p:nvPr/>
        </p:nvSpPr>
        <p:spPr>
          <a:xfrm>
            <a:off x="12473" y="4929913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Imap-ms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07200-D3E0-49E5-9CE4-F031F1B56FA5}"/>
              </a:ext>
            </a:extLst>
          </p:cNvPr>
          <p:cNvSpPr txBox="1"/>
          <p:nvPr/>
        </p:nvSpPr>
        <p:spPr>
          <a:xfrm>
            <a:off x="205772" y="1635583"/>
            <a:ext cx="1404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</a:rPr>
              <a:t>10.173.193.80/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6B0C-F8D1-4717-BC2B-5B3D1B16CF25}"/>
              </a:ext>
            </a:extLst>
          </p:cNvPr>
          <p:cNvSpPr txBox="1"/>
          <p:nvPr/>
        </p:nvSpPr>
        <p:spPr>
          <a:xfrm>
            <a:off x="205772" y="1932311"/>
            <a:ext cx="1720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10.173.193.80/user/spawn</a:t>
            </a:r>
            <a:endParaRPr lang="ko-KR" altLang="en-US" sz="10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56FF4D6-54F8-4570-80B0-B21A7FD21C68}"/>
              </a:ext>
            </a:extLst>
          </p:cNvPr>
          <p:cNvSpPr/>
          <p:nvPr/>
        </p:nvSpPr>
        <p:spPr>
          <a:xfrm>
            <a:off x="7072176" y="2489280"/>
            <a:ext cx="1602896" cy="1365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A4312F5-F9B7-44A0-A367-C45D6FAF3392}"/>
              </a:ext>
            </a:extLst>
          </p:cNvPr>
          <p:cNvGrpSpPr/>
          <p:nvPr/>
        </p:nvGrpSpPr>
        <p:grpSpPr>
          <a:xfrm>
            <a:off x="10065991" y="1913506"/>
            <a:ext cx="1802614" cy="648052"/>
            <a:chOff x="10224629" y="2981648"/>
            <a:chExt cx="1802614" cy="648052"/>
          </a:xfrm>
        </p:grpSpPr>
        <p:sp>
          <p:nvSpPr>
            <p:cNvPr id="68" name="순서도: 자기 디스크 67">
              <a:extLst>
                <a:ext uri="{FF2B5EF4-FFF2-40B4-BE49-F238E27FC236}">
                  <a16:creationId xmlns:a16="http://schemas.microsoft.com/office/drawing/2014/main" id="{2D89C9B7-D87D-4221-8766-F2F761C0E837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8BC9A391-AEF8-45E0-AE1A-3586B0B4CDB6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A91204A-B801-453E-9586-E07D22BC3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7B2AD76-6E58-47CB-B339-A1E65993A3B9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74BCDD6-9EF3-4AA8-BE10-C8133752EBD2}"/>
              </a:ext>
            </a:extLst>
          </p:cNvPr>
          <p:cNvGrpSpPr/>
          <p:nvPr/>
        </p:nvGrpSpPr>
        <p:grpSpPr>
          <a:xfrm>
            <a:off x="10115131" y="2693166"/>
            <a:ext cx="1802614" cy="648052"/>
            <a:chOff x="10224629" y="2981648"/>
            <a:chExt cx="1802614" cy="648052"/>
          </a:xfrm>
        </p:grpSpPr>
        <p:sp>
          <p:nvSpPr>
            <p:cNvPr id="77" name="순서도: 자기 디스크 76">
              <a:extLst>
                <a:ext uri="{FF2B5EF4-FFF2-40B4-BE49-F238E27FC236}">
                  <a16:creationId xmlns:a16="http://schemas.microsoft.com/office/drawing/2014/main" id="{A89A80AA-5DE5-4C97-A929-9F7E4AEDA086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6E18FF04-2299-488B-BE20-6F1DD0891344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91662C71-BADC-48B4-9E35-7F3E2C00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6632146-2597-4AE4-B394-24E501EFDC8F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E1B3480-1DDA-45F0-B4BE-482179809A54}"/>
              </a:ext>
            </a:extLst>
          </p:cNvPr>
          <p:cNvGrpSpPr/>
          <p:nvPr/>
        </p:nvGrpSpPr>
        <p:grpSpPr>
          <a:xfrm>
            <a:off x="10115131" y="3487801"/>
            <a:ext cx="1802614" cy="648052"/>
            <a:chOff x="10224629" y="2981648"/>
            <a:chExt cx="1802614" cy="648052"/>
          </a:xfrm>
        </p:grpSpPr>
        <p:sp>
          <p:nvSpPr>
            <p:cNvPr id="87" name="순서도: 자기 디스크 86">
              <a:extLst>
                <a:ext uri="{FF2B5EF4-FFF2-40B4-BE49-F238E27FC236}">
                  <a16:creationId xmlns:a16="http://schemas.microsoft.com/office/drawing/2014/main" id="{49415403-A938-499B-8617-CD2C001CC3F1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F3922ADD-9785-4A68-9B01-47A190706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BD55615D-E410-490C-910D-83A7F4A87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39427EE-C2A1-4FDF-B3BE-4C35B6E95BF6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E4DE3B3-8D82-446D-B631-9A920219B22E}"/>
              </a:ext>
            </a:extLst>
          </p:cNvPr>
          <p:cNvGrpSpPr/>
          <p:nvPr/>
        </p:nvGrpSpPr>
        <p:grpSpPr>
          <a:xfrm>
            <a:off x="10157007" y="4329463"/>
            <a:ext cx="1802614" cy="648052"/>
            <a:chOff x="10224629" y="2981648"/>
            <a:chExt cx="1802614" cy="648052"/>
          </a:xfrm>
        </p:grpSpPr>
        <p:sp>
          <p:nvSpPr>
            <p:cNvPr id="94" name="순서도: 자기 디스크 93">
              <a:extLst>
                <a:ext uri="{FF2B5EF4-FFF2-40B4-BE49-F238E27FC236}">
                  <a16:creationId xmlns:a16="http://schemas.microsoft.com/office/drawing/2014/main" id="{CD1DEAC0-8D05-4CB3-8280-6D093F13DECE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D8FF9005-422F-4421-9DA0-8811F991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4256EA82-8EC7-41FB-9DDB-A0ADB7221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C55A6DC-5CB7-4116-84A1-CF45513645DA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6936B5D-099B-4709-BA04-6DCFCA8DD060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7873624" y="1506558"/>
            <a:ext cx="1137017" cy="98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906AEA6-1594-4DA7-8441-DC26800530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9071" y="2650834"/>
            <a:ext cx="1760958" cy="1128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8830EDA-025A-44AE-A879-D35564E2A5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6785" y="2843593"/>
            <a:ext cx="2028962" cy="999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3210A9-3D17-4B6C-8B07-31790A02674A}"/>
              </a:ext>
            </a:extLst>
          </p:cNvPr>
          <p:cNvSpPr txBox="1"/>
          <p:nvPr/>
        </p:nvSpPr>
        <p:spPr>
          <a:xfrm>
            <a:off x="2245014" y="947168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</a:t>
            </a:r>
            <a:endParaRPr lang="ko-KR" altLang="en-US" sz="11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98A865D-254D-426A-AB46-E4C8E4C6FB1F}"/>
              </a:ext>
            </a:extLst>
          </p:cNvPr>
          <p:cNvSpPr txBox="1"/>
          <p:nvPr/>
        </p:nvSpPr>
        <p:spPr>
          <a:xfrm>
            <a:off x="5044759" y="66520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:8083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426F31-0670-4E23-A565-B0E2F784A568}"/>
              </a:ext>
            </a:extLst>
          </p:cNvPr>
          <p:cNvSpPr txBox="1"/>
          <p:nvPr/>
        </p:nvSpPr>
        <p:spPr>
          <a:xfrm>
            <a:off x="16884" y="3463472"/>
            <a:ext cx="799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P-DEP</a:t>
            </a:r>
            <a:endParaRPr lang="ko-KR" altLang="en-US" sz="15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E5F26791-18AF-4BDB-89C7-F2E7D9AB73BC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1341391" y="2164661"/>
            <a:ext cx="4111726" cy="25557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9ECBCEDC-6E24-494A-AF7F-7B0D9538FBAF}"/>
              </a:ext>
            </a:extLst>
          </p:cNvPr>
          <p:cNvCxnSpPr>
            <a:cxnSpLocks/>
            <a:endCxn id="64" idx="2"/>
          </p:cNvCxnSpPr>
          <p:nvPr/>
        </p:nvCxnSpPr>
        <p:spPr>
          <a:xfrm flipV="1">
            <a:off x="1095104" y="4926989"/>
            <a:ext cx="8404159" cy="1504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1D6F70-B92E-4307-97F1-7D4939934F15}"/>
              </a:ext>
            </a:extLst>
          </p:cNvPr>
          <p:cNvSpPr/>
          <p:nvPr/>
        </p:nvSpPr>
        <p:spPr>
          <a:xfrm>
            <a:off x="2178992" y="2861507"/>
            <a:ext cx="6096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900" b="1" dirty="0"/>
              <a:t>@</a:t>
            </a:r>
            <a:r>
              <a:rPr lang="ko-KR" altLang="en-US" sz="900" b="1" dirty="0" err="1"/>
              <a:t>RestController</a:t>
            </a:r>
            <a:endParaRPr lang="ko-KR" altLang="en-US" sz="900" b="1" dirty="0"/>
          </a:p>
          <a:p>
            <a:r>
              <a:rPr lang="ko-KR" altLang="en-US" sz="900" b="1" dirty="0"/>
              <a:t>@</a:t>
            </a:r>
            <a:r>
              <a:rPr lang="ko-KR" altLang="en-US" sz="900" b="1" dirty="0" err="1"/>
              <a:t>RequestMapping</a:t>
            </a:r>
            <a:r>
              <a:rPr lang="ko-KR" altLang="en-US" sz="900" b="1" dirty="0"/>
              <a:t>("/</a:t>
            </a:r>
            <a:r>
              <a:rPr lang="ko-KR" altLang="en-US" sz="900" b="1" dirty="0" err="1"/>
              <a:t>api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auth</a:t>
            </a:r>
            <a:r>
              <a:rPr lang="ko-KR" altLang="en-US" sz="900" b="1" dirty="0"/>
              <a:t>")</a:t>
            </a:r>
          </a:p>
          <a:p>
            <a:r>
              <a:rPr lang="ko-KR" altLang="en-US" sz="900" b="1" dirty="0" err="1"/>
              <a:t>public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class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AuthCheckController</a:t>
            </a:r>
            <a:r>
              <a:rPr lang="ko-KR" altLang="en-US" sz="900" b="1" dirty="0"/>
              <a:t> {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@</a:t>
            </a:r>
            <a:r>
              <a:rPr lang="ko-KR" altLang="en-US" sz="900" b="1" dirty="0" err="1"/>
              <a:t>GetMapping</a:t>
            </a:r>
            <a:r>
              <a:rPr lang="ko-KR" altLang="en-US" sz="900" b="1" dirty="0"/>
              <a:t>("/</a:t>
            </a:r>
            <a:r>
              <a:rPr lang="ko-KR" altLang="en-US" sz="900" b="1" dirty="0" err="1"/>
              <a:t>check</a:t>
            </a:r>
            <a:r>
              <a:rPr lang="ko-KR" altLang="en-US" sz="900" b="1" dirty="0"/>
              <a:t>")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public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ResponseEntity</a:t>
            </a:r>
            <a:r>
              <a:rPr lang="ko-KR" altLang="en-US" sz="900" b="1" dirty="0"/>
              <a:t>&lt;</a:t>
            </a:r>
            <a:r>
              <a:rPr lang="ko-KR" altLang="en-US" sz="900" b="1" dirty="0" err="1"/>
              <a:t>Void</a:t>
            </a:r>
            <a:r>
              <a:rPr lang="ko-KR" altLang="en-US" sz="900" b="1" dirty="0"/>
              <a:t>&gt; </a:t>
            </a:r>
            <a:r>
              <a:rPr lang="ko-KR" altLang="en-US" sz="900" b="1" dirty="0" err="1"/>
              <a:t>checkAuthentication</a:t>
            </a:r>
            <a:r>
              <a:rPr lang="ko-KR" altLang="en-US" sz="900" b="1" dirty="0"/>
              <a:t>() {</a:t>
            </a:r>
          </a:p>
          <a:p>
            <a:r>
              <a:rPr lang="ko-KR" altLang="en-US" sz="900" b="1" dirty="0"/>
              <a:t>        // 이 경로에 접근했을 때, 만약 스프링 </a:t>
            </a:r>
            <a:r>
              <a:rPr lang="ko-KR" altLang="en-US" sz="900" b="1" dirty="0" err="1"/>
              <a:t>시큐리티</a:t>
            </a:r>
            <a:r>
              <a:rPr lang="ko-KR" altLang="en-US" sz="900" b="1" dirty="0"/>
              <a:t> 필터에 의해 </a:t>
            </a:r>
          </a:p>
          <a:p>
            <a:r>
              <a:rPr lang="ko-KR" altLang="en-US" sz="900" b="1" dirty="0"/>
              <a:t>        // 이미 인증된 사용자(세션 쿠키가 유효한 사용자)라면 여기로 들어옵니다.</a:t>
            </a:r>
          </a:p>
          <a:p>
            <a:r>
              <a:rPr lang="ko-KR" altLang="en-US" sz="900" b="1" dirty="0"/>
              <a:t>        </a:t>
            </a:r>
          </a:p>
          <a:p>
            <a:r>
              <a:rPr lang="ko-KR" altLang="en-US" sz="900" b="1" dirty="0"/>
              <a:t>        // 인증 성공: </a:t>
            </a:r>
            <a:r>
              <a:rPr lang="ko-KR" altLang="en-US" sz="900" b="1" dirty="0" err="1"/>
              <a:t>body</a:t>
            </a:r>
            <a:r>
              <a:rPr lang="ko-KR" altLang="en-US" sz="900" b="1" dirty="0"/>
              <a:t> 없이 200 </a:t>
            </a:r>
            <a:r>
              <a:rPr lang="ko-KR" altLang="en-US" sz="900" b="1" dirty="0" err="1"/>
              <a:t>OK만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리턴합니다</a:t>
            </a:r>
            <a:r>
              <a:rPr lang="ko-KR" altLang="en-US" sz="900" b="1" dirty="0"/>
              <a:t>.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return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ResponseEntity.ok</a:t>
            </a:r>
            <a:r>
              <a:rPr lang="ko-KR" altLang="en-US" sz="900" b="1" dirty="0"/>
              <a:t>().</a:t>
            </a:r>
            <a:r>
              <a:rPr lang="ko-KR" altLang="en-US" sz="900" b="1" dirty="0" err="1"/>
              <a:t>build</a:t>
            </a:r>
            <a:r>
              <a:rPr lang="ko-KR" altLang="en-US" sz="900" b="1" dirty="0"/>
              <a:t>(); </a:t>
            </a:r>
          </a:p>
          <a:p>
            <a:r>
              <a:rPr lang="ko-KR" altLang="en-US" sz="900" b="1" dirty="0"/>
              <a:t>    }</a:t>
            </a:r>
          </a:p>
          <a:p>
            <a:r>
              <a:rPr lang="ko-KR" altLang="en-US" sz="900" b="1" dirty="0"/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99F24F0-7160-499B-A1A3-66EC8E51A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997" y="5686952"/>
            <a:ext cx="4505046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스프링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시큐리티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설정(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SecurityFilterChain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)에서 </a:t>
            </a:r>
            <a:endParaRPr kumimoji="0" lang="en-US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경로는 **인증이 필요한 경로(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authenticated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)**로 설정해 두셔야 합니다. 그렇게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해두면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세션 쿠키가 없는 사용자가 접근했을 때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시큐리티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필터가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컨트롤러에 도달하기도 전에 자동으로 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401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Unauthorized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리턴해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주므로 코드가 훨씬 </a:t>
            </a:r>
            <a:r>
              <a:rPr kumimoji="0" lang="ko-KR" altLang="ko-KR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단순해집니다</a:t>
            </a: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ko-KR" altLang="ko-KR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B9DD70-D961-47A1-BC20-5E1A61D061BF}"/>
              </a:ext>
            </a:extLst>
          </p:cNvPr>
          <p:cNvSpPr txBox="1"/>
          <p:nvPr/>
        </p:nvSpPr>
        <p:spPr>
          <a:xfrm>
            <a:off x="4755726" y="1642421"/>
            <a:ext cx="14912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SpringBoot.war</a:t>
            </a:r>
            <a:endParaRPr lang="ko-KR" altLang="en-US" sz="15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E69B8E-169D-45B1-978F-EEEC03A0D787}"/>
              </a:ext>
            </a:extLst>
          </p:cNvPr>
          <p:cNvSpPr txBox="1"/>
          <p:nvPr/>
        </p:nvSpPr>
        <p:spPr>
          <a:xfrm>
            <a:off x="9621042" y="1998056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:8200</a:t>
            </a:r>
            <a:endParaRPr lang="ko-KR" altLang="en-US" sz="11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187710-9F83-4F9A-99EC-07E49F010362}"/>
              </a:ext>
            </a:extLst>
          </p:cNvPr>
          <p:cNvSpPr txBox="1"/>
          <p:nvPr/>
        </p:nvSpPr>
        <p:spPr>
          <a:xfrm>
            <a:off x="9689513" y="2765635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:8300</a:t>
            </a:r>
            <a:endParaRPr lang="ko-KR" altLang="en-US" sz="11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B19162-F6B8-4C7F-8027-A702DB833ABA}"/>
              </a:ext>
            </a:extLst>
          </p:cNvPr>
          <p:cNvSpPr txBox="1"/>
          <p:nvPr/>
        </p:nvSpPr>
        <p:spPr>
          <a:xfrm>
            <a:off x="9667227" y="359795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:8400</a:t>
            </a:r>
            <a:endParaRPr lang="ko-KR" altLang="en-US" sz="11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938A870-7F1A-4B79-80D7-00C63BCA696D}"/>
              </a:ext>
            </a:extLst>
          </p:cNvPr>
          <p:cNvSpPr txBox="1"/>
          <p:nvPr/>
        </p:nvSpPr>
        <p:spPr>
          <a:xfrm>
            <a:off x="7013976" y="2227670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:8100</a:t>
            </a:r>
            <a:endParaRPr lang="ko-KR" altLang="en-US" sz="1100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766493D-8FAF-4883-AE2C-B5228800E707}"/>
              </a:ext>
            </a:extLst>
          </p:cNvPr>
          <p:cNvSpPr/>
          <p:nvPr/>
        </p:nvSpPr>
        <p:spPr>
          <a:xfrm>
            <a:off x="3438237" y="913381"/>
            <a:ext cx="17844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Authorization: Bearer </a:t>
            </a:r>
            <a:r>
              <a:rPr lang="en-US" altLang="ko-KR" sz="800" dirty="0" err="1"/>
              <a:t>eyJhbGciOi</a:t>
            </a:r>
            <a:r>
              <a:rPr lang="en-US" altLang="ko-KR" sz="800" dirty="0"/>
              <a:t>...</a:t>
            </a:r>
            <a:endParaRPr lang="ko-KR" altLang="en-US" sz="8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5B4F253-D6DC-4FA5-8A46-57D8DAB97510}"/>
              </a:ext>
            </a:extLst>
          </p:cNvPr>
          <p:cNvSpPr/>
          <p:nvPr/>
        </p:nvSpPr>
        <p:spPr>
          <a:xfrm>
            <a:off x="4629296" y="1106062"/>
            <a:ext cx="1647639" cy="391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E03641B-FE86-4150-B9B6-F7763A3184A3}"/>
              </a:ext>
            </a:extLst>
          </p:cNvPr>
          <p:cNvSpPr txBox="1"/>
          <p:nvPr/>
        </p:nvSpPr>
        <p:spPr>
          <a:xfrm>
            <a:off x="4644027" y="1134589"/>
            <a:ext cx="177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SecurityFilterChain</a:t>
            </a:r>
            <a:endParaRPr lang="en-US" altLang="ko-KR" sz="800" dirty="0"/>
          </a:p>
          <a:p>
            <a:r>
              <a:rPr lang="en-US" altLang="ko-KR" sz="800" dirty="0" err="1">
                <a:solidFill>
                  <a:srgbClr val="FF0000"/>
                </a:solidFill>
              </a:rPr>
              <a:t>JwtAuthenticationFilter</a:t>
            </a:r>
            <a:r>
              <a:rPr lang="en-US" altLang="ko-KR" sz="800" dirty="0">
                <a:solidFill>
                  <a:srgbClr val="FF0000"/>
                </a:solidFill>
              </a:rPr>
              <a:t> JWT </a:t>
            </a:r>
            <a:r>
              <a:rPr lang="ko-KR" altLang="en-US" sz="800" dirty="0">
                <a:solidFill>
                  <a:srgbClr val="FF0000"/>
                </a:solidFill>
              </a:rPr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69501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2180672" y="398207"/>
            <a:ext cx="9937588" cy="6386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33F86E9-E16F-4B8E-89A4-782EC6663DC0}"/>
              </a:ext>
            </a:extLst>
          </p:cNvPr>
          <p:cNvSpPr/>
          <p:nvPr/>
        </p:nvSpPr>
        <p:spPr>
          <a:xfrm>
            <a:off x="2301894" y="1154552"/>
            <a:ext cx="1481070" cy="13347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3A3810-B582-4D0A-91AD-787A037B17A0}"/>
              </a:ext>
            </a:extLst>
          </p:cNvPr>
          <p:cNvSpPr txBox="1"/>
          <p:nvPr/>
        </p:nvSpPr>
        <p:spPr>
          <a:xfrm>
            <a:off x="2383213" y="1266251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Nginx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9DF29DF-4B8D-4F74-A9E6-DB1212CB5A14}"/>
              </a:ext>
            </a:extLst>
          </p:cNvPr>
          <p:cNvSpPr/>
          <p:nvPr/>
        </p:nvSpPr>
        <p:spPr>
          <a:xfrm>
            <a:off x="4629297" y="1488978"/>
            <a:ext cx="1647640" cy="6756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FDC7ECD-C0CE-45A4-B9FF-94D952450187}"/>
              </a:ext>
            </a:extLst>
          </p:cNvPr>
          <p:cNvCxnSpPr>
            <a:cxnSpLocks/>
            <a:stCxn id="66" idx="3"/>
            <a:endCxn id="74" idx="1"/>
          </p:cNvCxnSpPr>
          <p:nvPr/>
        </p:nvCxnSpPr>
        <p:spPr>
          <a:xfrm>
            <a:off x="3782964" y="1821917"/>
            <a:ext cx="846333" cy="490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50A60C0-042F-4A9A-A8CC-7392E6FC7B1D}"/>
              </a:ext>
            </a:extLst>
          </p:cNvPr>
          <p:cNvCxnSpPr>
            <a:cxnSpLocks/>
            <a:stCxn id="74" idx="3"/>
            <a:endCxn id="64" idx="1"/>
          </p:cNvCxnSpPr>
          <p:nvPr/>
        </p:nvCxnSpPr>
        <p:spPr>
          <a:xfrm>
            <a:off x="6276937" y="1826820"/>
            <a:ext cx="718786" cy="1560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D32153E-09D0-4FBE-AC5E-0CA2C85BB31B}"/>
              </a:ext>
            </a:extLst>
          </p:cNvPr>
          <p:cNvSpPr txBox="1"/>
          <p:nvPr/>
        </p:nvSpPr>
        <p:spPr>
          <a:xfrm>
            <a:off x="-299" y="21354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Browser 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1519CB9-89D9-4042-B843-4A6ABBB605C0}"/>
              </a:ext>
            </a:extLst>
          </p:cNvPr>
          <p:cNvGrpSpPr/>
          <p:nvPr/>
        </p:nvGrpSpPr>
        <p:grpSpPr>
          <a:xfrm>
            <a:off x="205772" y="542512"/>
            <a:ext cx="1017684" cy="925462"/>
            <a:chOff x="2394920" y="587468"/>
            <a:chExt cx="4215605" cy="3430859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FE3943-CFE9-4396-9328-6FAC42ED686D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CDF3429-AAE9-4BB4-A59C-7638025759DF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845ADD-C5A3-44F3-AA90-6A65F1F7A892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5B7823F7-7957-4814-A49D-25E36632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582873"/>
            <a:ext cx="755561" cy="7789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B67F69A-3FFC-41B0-8DAA-8211C0B8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" y="582873"/>
            <a:ext cx="199032" cy="8898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6FD3B44-00EF-4277-BA94-D90C9EA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8237" y="608788"/>
            <a:ext cx="918768" cy="9438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35A1384-67DD-4735-BFEB-3387EC6C6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49" y="681989"/>
            <a:ext cx="753325" cy="7588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9558DD-842E-4B84-B69F-140D6D83D2BF}"/>
              </a:ext>
            </a:extLst>
          </p:cNvPr>
          <p:cNvSpPr/>
          <p:nvPr/>
        </p:nvSpPr>
        <p:spPr>
          <a:xfrm>
            <a:off x="7044908" y="2667899"/>
            <a:ext cx="16687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-gateway</a:t>
            </a:r>
          </a:p>
          <a:p>
            <a:endParaRPr lang="en-US" altLang="ko-KR" dirty="0"/>
          </a:p>
          <a:p>
            <a:r>
              <a:rPr lang="en-US" altLang="ko-KR" dirty="0" err="1"/>
              <a:t>Uvicorn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9B2814-D97C-4FB7-901D-94CAE94E8651}"/>
              </a:ext>
            </a:extLst>
          </p:cNvPr>
          <p:cNvSpPr/>
          <p:nvPr/>
        </p:nvSpPr>
        <p:spPr>
          <a:xfrm>
            <a:off x="20278" y="4196577"/>
            <a:ext cx="9701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-client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CE58-635F-427C-BAB3-0EAB6AAA8910}"/>
              </a:ext>
            </a:extLst>
          </p:cNvPr>
          <p:cNvSpPr/>
          <p:nvPr/>
        </p:nvSpPr>
        <p:spPr>
          <a:xfrm>
            <a:off x="20278" y="3887109"/>
            <a:ext cx="1032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-admin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2B9309E-D3F8-4CC7-9F5B-14BBF2992B1A}"/>
              </a:ext>
            </a:extLst>
          </p:cNvPr>
          <p:cNvSpPr/>
          <p:nvPr/>
        </p:nvSpPr>
        <p:spPr>
          <a:xfrm>
            <a:off x="6995723" y="1847316"/>
            <a:ext cx="5007079" cy="30796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34BF19-5339-423F-836C-135842875E39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1223456" y="1048206"/>
            <a:ext cx="1078438" cy="7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D900DA-7280-479E-9D50-7EC7692FE32C}"/>
              </a:ext>
            </a:extLst>
          </p:cNvPr>
          <p:cNvSpPr txBox="1"/>
          <p:nvPr/>
        </p:nvSpPr>
        <p:spPr>
          <a:xfrm>
            <a:off x="2202194" y="35757"/>
            <a:ext cx="28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Windows 2022 Server VM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D0983CD-9CA0-46B0-B16F-8A956D4CC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428" y="761206"/>
            <a:ext cx="691792" cy="689711"/>
          </a:xfrm>
          <a:prstGeom prst="rect">
            <a:avLst/>
          </a:prstGeom>
        </p:spPr>
      </p:pic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4614901-F508-4C80-8221-030EDDF63A4F}"/>
              </a:ext>
            </a:extLst>
          </p:cNvPr>
          <p:cNvCxnSpPr>
            <a:cxnSpLocks/>
            <a:stCxn id="74" idx="3"/>
            <a:endCxn id="17" idx="1"/>
          </p:cNvCxnSpPr>
          <p:nvPr/>
        </p:nvCxnSpPr>
        <p:spPr>
          <a:xfrm flipV="1">
            <a:off x="6276937" y="1106062"/>
            <a:ext cx="2305491" cy="720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611DF07-814A-49CB-AA98-79024DBD5646}"/>
              </a:ext>
            </a:extLst>
          </p:cNvPr>
          <p:cNvSpPr txBox="1"/>
          <p:nvPr/>
        </p:nvSpPr>
        <p:spPr>
          <a:xfrm>
            <a:off x="8413852" y="480612"/>
            <a:ext cx="1193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Refresh Token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550B71-2778-4442-AFA4-DAF8F5FF46F1}"/>
              </a:ext>
            </a:extLst>
          </p:cNvPr>
          <p:cNvSpPr txBox="1"/>
          <p:nvPr/>
        </p:nvSpPr>
        <p:spPr>
          <a:xfrm>
            <a:off x="2231126" y="2144528"/>
            <a:ext cx="17860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Dist</a:t>
            </a:r>
            <a:r>
              <a:rPr lang="en-US" altLang="ko-KR" sz="1500" dirty="0"/>
              <a:t>/</a:t>
            </a:r>
            <a:r>
              <a:rPr lang="en-US" altLang="ko-KR" sz="1500" dirty="0" err="1"/>
              <a:t>staticFiles</a:t>
            </a:r>
            <a:endParaRPr lang="ko-KR" altLang="en-US" sz="15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1E4EF-25A1-407C-AF04-F10FE8E2ADD5}"/>
              </a:ext>
            </a:extLst>
          </p:cNvPr>
          <p:cNvSpPr/>
          <p:nvPr/>
        </p:nvSpPr>
        <p:spPr>
          <a:xfrm>
            <a:off x="10230068" y="145309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Imap</a:t>
            </a:r>
            <a:r>
              <a:rPr lang="en-US" altLang="ko-KR" dirty="0"/>
              <a:t>-Modules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7C60FC7-599F-4F0E-9426-088559D3DEE9}"/>
              </a:ext>
            </a:extLst>
          </p:cNvPr>
          <p:cNvSpPr/>
          <p:nvPr/>
        </p:nvSpPr>
        <p:spPr>
          <a:xfrm>
            <a:off x="4251392" y="942559"/>
            <a:ext cx="2477650" cy="19709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CCD13-AC26-482F-ABD9-624F2D95A36D}"/>
              </a:ext>
            </a:extLst>
          </p:cNvPr>
          <p:cNvSpPr txBox="1"/>
          <p:nvPr/>
        </p:nvSpPr>
        <p:spPr>
          <a:xfrm>
            <a:off x="4112705" y="597923"/>
            <a:ext cx="115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Tomcat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C360AD-3405-4494-B327-8B62D6E80C38}"/>
              </a:ext>
            </a:extLst>
          </p:cNvPr>
          <p:cNvSpPr/>
          <p:nvPr/>
        </p:nvSpPr>
        <p:spPr>
          <a:xfrm>
            <a:off x="55447" y="3811516"/>
            <a:ext cx="1736272" cy="2972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3D081-EA23-484E-B1D9-6CC349B09847}"/>
              </a:ext>
            </a:extLst>
          </p:cNvPr>
          <p:cNvSpPr txBox="1"/>
          <p:nvPr/>
        </p:nvSpPr>
        <p:spPr>
          <a:xfrm>
            <a:off x="13276" y="4574675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</a:t>
            </a:r>
            <a:r>
              <a:rPr lang="en-US" altLang="ko-KR" sz="1200" dirty="0"/>
              <a:t>-edge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AA98C-E7EF-4B1F-9636-0E4FB60F1BAE}"/>
              </a:ext>
            </a:extLst>
          </p:cNvPr>
          <p:cNvSpPr txBox="1"/>
          <p:nvPr/>
        </p:nvSpPr>
        <p:spPr>
          <a:xfrm>
            <a:off x="12473" y="4929913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Imap-ms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07200-D3E0-49E5-9CE4-F031F1B56FA5}"/>
              </a:ext>
            </a:extLst>
          </p:cNvPr>
          <p:cNvSpPr txBox="1"/>
          <p:nvPr/>
        </p:nvSpPr>
        <p:spPr>
          <a:xfrm>
            <a:off x="205772" y="1635583"/>
            <a:ext cx="1404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10.173.193.80/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6B0C-F8D1-4717-BC2B-5B3D1B16CF25}"/>
              </a:ext>
            </a:extLst>
          </p:cNvPr>
          <p:cNvSpPr txBox="1"/>
          <p:nvPr/>
        </p:nvSpPr>
        <p:spPr>
          <a:xfrm>
            <a:off x="205772" y="1932311"/>
            <a:ext cx="1791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</a:rPr>
              <a:t>10.173.193.80/user/spawn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56FF4D6-54F8-4570-80B0-B21A7FD21C68}"/>
              </a:ext>
            </a:extLst>
          </p:cNvPr>
          <p:cNvSpPr/>
          <p:nvPr/>
        </p:nvSpPr>
        <p:spPr>
          <a:xfrm>
            <a:off x="7072176" y="2489280"/>
            <a:ext cx="1602896" cy="1365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A4312F5-F9B7-44A0-A367-C45D6FAF3392}"/>
              </a:ext>
            </a:extLst>
          </p:cNvPr>
          <p:cNvGrpSpPr/>
          <p:nvPr/>
        </p:nvGrpSpPr>
        <p:grpSpPr>
          <a:xfrm>
            <a:off x="10065991" y="1913506"/>
            <a:ext cx="1802614" cy="648052"/>
            <a:chOff x="10224629" y="2981648"/>
            <a:chExt cx="1802614" cy="648052"/>
          </a:xfrm>
        </p:grpSpPr>
        <p:sp>
          <p:nvSpPr>
            <p:cNvPr id="68" name="순서도: 자기 디스크 67">
              <a:extLst>
                <a:ext uri="{FF2B5EF4-FFF2-40B4-BE49-F238E27FC236}">
                  <a16:creationId xmlns:a16="http://schemas.microsoft.com/office/drawing/2014/main" id="{2D89C9B7-D87D-4221-8766-F2F761C0E837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8BC9A391-AEF8-45E0-AE1A-3586B0B4CDB6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EA91204A-B801-453E-9586-E07D22BC3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7B2AD76-6E58-47CB-B339-A1E65993A3B9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74BCDD6-9EF3-4AA8-BE10-C8133752EBD2}"/>
              </a:ext>
            </a:extLst>
          </p:cNvPr>
          <p:cNvGrpSpPr/>
          <p:nvPr/>
        </p:nvGrpSpPr>
        <p:grpSpPr>
          <a:xfrm>
            <a:off x="10115131" y="2693166"/>
            <a:ext cx="1802614" cy="648052"/>
            <a:chOff x="10224629" y="2981648"/>
            <a:chExt cx="1802614" cy="648052"/>
          </a:xfrm>
        </p:grpSpPr>
        <p:sp>
          <p:nvSpPr>
            <p:cNvPr id="77" name="순서도: 자기 디스크 76">
              <a:extLst>
                <a:ext uri="{FF2B5EF4-FFF2-40B4-BE49-F238E27FC236}">
                  <a16:creationId xmlns:a16="http://schemas.microsoft.com/office/drawing/2014/main" id="{A89A80AA-5DE5-4C97-A929-9F7E4AEDA086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6E18FF04-2299-488B-BE20-6F1DD0891344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91662C71-BADC-48B4-9E35-7F3E2C00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6632146-2597-4AE4-B394-24E501EFDC8F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E1B3480-1DDA-45F0-B4BE-482179809A54}"/>
              </a:ext>
            </a:extLst>
          </p:cNvPr>
          <p:cNvGrpSpPr/>
          <p:nvPr/>
        </p:nvGrpSpPr>
        <p:grpSpPr>
          <a:xfrm>
            <a:off x="10115131" y="3487801"/>
            <a:ext cx="1802614" cy="648052"/>
            <a:chOff x="10224629" y="2981648"/>
            <a:chExt cx="1802614" cy="648052"/>
          </a:xfrm>
        </p:grpSpPr>
        <p:sp>
          <p:nvSpPr>
            <p:cNvPr id="87" name="순서도: 자기 디스크 86">
              <a:extLst>
                <a:ext uri="{FF2B5EF4-FFF2-40B4-BE49-F238E27FC236}">
                  <a16:creationId xmlns:a16="http://schemas.microsoft.com/office/drawing/2014/main" id="{49415403-A938-499B-8617-CD2C001CC3F1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F3922ADD-9785-4A68-9B01-47A190706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BD55615D-E410-490C-910D-83A7F4A87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39427EE-C2A1-4FDF-B3BE-4C35B6E95BF6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E4DE3B3-8D82-446D-B631-9A920219B22E}"/>
              </a:ext>
            </a:extLst>
          </p:cNvPr>
          <p:cNvGrpSpPr/>
          <p:nvPr/>
        </p:nvGrpSpPr>
        <p:grpSpPr>
          <a:xfrm>
            <a:off x="10157007" y="4329463"/>
            <a:ext cx="1802614" cy="648052"/>
            <a:chOff x="10224629" y="2981648"/>
            <a:chExt cx="1802614" cy="648052"/>
          </a:xfrm>
        </p:grpSpPr>
        <p:sp>
          <p:nvSpPr>
            <p:cNvPr id="94" name="순서도: 자기 디스크 93">
              <a:extLst>
                <a:ext uri="{FF2B5EF4-FFF2-40B4-BE49-F238E27FC236}">
                  <a16:creationId xmlns:a16="http://schemas.microsoft.com/office/drawing/2014/main" id="{CD1DEAC0-8D05-4CB3-8280-6D093F13DECE}"/>
                </a:ext>
              </a:extLst>
            </p:cNvPr>
            <p:cNvSpPr/>
            <p:nvPr/>
          </p:nvSpPr>
          <p:spPr>
            <a:xfrm>
              <a:off x="11389574" y="2981648"/>
              <a:ext cx="637669" cy="44735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Log</a:t>
              </a:r>
              <a:endParaRPr lang="ko-KR" altLang="en-US" dirty="0"/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D8FF9005-422F-4421-9DA0-8811F99179D2}"/>
                </a:ext>
              </a:extLst>
            </p:cNvPr>
            <p:cNvCxnSpPr>
              <a:cxnSpLocks/>
            </p:cNvCxnSpPr>
            <p:nvPr/>
          </p:nvCxnSpPr>
          <p:spPr>
            <a:xfrm>
              <a:off x="11033104" y="3222604"/>
              <a:ext cx="3259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4256EA82-8EC7-41FB-9DDB-A0ADB7221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73769" y="2993946"/>
              <a:ext cx="759335" cy="566970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C55A6DC-5CB7-4116-84A1-CF45513645DA}"/>
                </a:ext>
              </a:extLst>
            </p:cNvPr>
            <p:cNvSpPr txBox="1"/>
            <p:nvPr/>
          </p:nvSpPr>
          <p:spPr>
            <a:xfrm>
              <a:off x="10224629" y="3352701"/>
              <a:ext cx="4861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MS</a:t>
              </a:r>
              <a:endParaRPr lang="ko-KR" altLang="en-US" sz="1200" dirty="0"/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6936B5D-099B-4709-BA04-6DCFCA8DD060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7873624" y="1506558"/>
            <a:ext cx="1137017" cy="98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3210A9-3D17-4B6C-8B07-31790A02674A}"/>
              </a:ext>
            </a:extLst>
          </p:cNvPr>
          <p:cNvSpPr txBox="1"/>
          <p:nvPr/>
        </p:nvSpPr>
        <p:spPr>
          <a:xfrm>
            <a:off x="2245014" y="947168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</a:t>
            </a:r>
            <a:endParaRPr lang="ko-KR" altLang="en-US" sz="11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98A865D-254D-426A-AB46-E4C8E4C6FB1F}"/>
              </a:ext>
            </a:extLst>
          </p:cNvPr>
          <p:cNvSpPr txBox="1"/>
          <p:nvPr/>
        </p:nvSpPr>
        <p:spPr>
          <a:xfrm>
            <a:off x="5044759" y="66520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:8083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426F31-0670-4E23-A565-B0E2F784A568}"/>
              </a:ext>
            </a:extLst>
          </p:cNvPr>
          <p:cNvSpPr txBox="1"/>
          <p:nvPr/>
        </p:nvSpPr>
        <p:spPr>
          <a:xfrm>
            <a:off x="16884" y="3463472"/>
            <a:ext cx="799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P-DEP</a:t>
            </a:r>
            <a:endParaRPr lang="ko-KR" altLang="en-US" sz="15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0D6F4C5-0DCC-454B-A36D-9EA1306C7CFF}"/>
              </a:ext>
            </a:extLst>
          </p:cNvPr>
          <p:cNvSpPr/>
          <p:nvPr/>
        </p:nvSpPr>
        <p:spPr>
          <a:xfrm>
            <a:off x="2260359" y="3289486"/>
            <a:ext cx="14189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 err="1"/>
              <a:t>WebClient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기본 설정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F0C9329-9070-459E-9F42-25271FE74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1854" y="3023300"/>
            <a:ext cx="214834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spring-boot-starter-webflux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의존성 추가 </a:t>
            </a:r>
            <a:endParaRPr kumimoji="0" lang="ko-KR" altLang="ko-K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B0B284-19C6-420F-A9A9-B1FA22F88366}"/>
              </a:ext>
            </a:extLst>
          </p:cNvPr>
          <p:cNvSpPr/>
          <p:nvPr/>
        </p:nvSpPr>
        <p:spPr>
          <a:xfrm>
            <a:off x="2194711" y="3716932"/>
            <a:ext cx="659778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/>
              <a:t>@Configuration </a:t>
            </a:r>
          </a:p>
          <a:p>
            <a:r>
              <a:rPr lang="en-US" altLang="ko-KR" sz="900" b="1" dirty="0"/>
              <a:t>public class </a:t>
            </a:r>
            <a:r>
              <a:rPr lang="en-US" altLang="ko-KR" sz="900" b="1" dirty="0" err="1"/>
              <a:t>WebClientConfig</a:t>
            </a:r>
            <a:r>
              <a:rPr lang="en-US" altLang="ko-KR" sz="900" b="1" dirty="0"/>
              <a:t> { </a:t>
            </a:r>
          </a:p>
          <a:p>
            <a:r>
              <a:rPr lang="en-US" altLang="ko-KR" sz="900" b="1" dirty="0"/>
              <a:t>        @Bean </a:t>
            </a:r>
          </a:p>
          <a:p>
            <a:r>
              <a:rPr lang="en-US" altLang="ko-KR" sz="900" b="1" dirty="0"/>
              <a:t>         public </a:t>
            </a:r>
            <a:r>
              <a:rPr lang="en-US" altLang="ko-KR" sz="900" b="1" dirty="0" err="1"/>
              <a:t>WebClient</a:t>
            </a:r>
            <a:r>
              <a:rPr lang="en-US" altLang="ko-KR" sz="900" b="1" dirty="0"/>
              <a:t> </a:t>
            </a:r>
            <a:r>
              <a:rPr lang="en-US" altLang="ko-KR" sz="900" b="1" dirty="0" err="1"/>
              <a:t>imapGatewayClient</a:t>
            </a:r>
            <a:r>
              <a:rPr lang="en-US" altLang="ko-KR" sz="900" b="1" dirty="0"/>
              <a:t>() </a:t>
            </a:r>
          </a:p>
          <a:p>
            <a:r>
              <a:rPr lang="en-US" altLang="ko-KR" sz="900" b="1" dirty="0"/>
              <a:t>         { </a:t>
            </a:r>
          </a:p>
          <a:p>
            <a:r>
              <a:rPr lang="en-US" altLang="ko-KR" sz="900" b="1" dirty="0"/>
              <a:t>           // </a:t>
            </a:r>
            <a:r>
              <a:rPr lang="en-US" altLang="ko-KR" sz="900" b="1" dirty="0" err="1"/>
              <a:t>Netty</a:t>
            </a:r>
            <a:r>
              <a:rPr lang="en-US" altLang="ko-KR" sz="900" b="1" dirty="0"/>
              <a:t> </a:t>
            </a:r>
            <a:r>
              <a:rPr lang="en-US" altLang="ko-KR" sz="900" b="1" dirty="0" err="1"/>
              <a:t>HttpClient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설정을 통해 커넥션 타임아웃 및 읽기</a:t>
            </a:r>
            <a:r>
              <a:rPr lang="en-US" altLang="ko-KR" sz="900" b="1" dirty="0"/>
              <a:t>/</a:t>
            </a:r>
            <a:r>
              <a:rPr lang="ko-KR" altLang="en-US" sz="900" b="1" dirty="0"/>
              <a:t>쓰기 타임아웃 지정 </a:t>
            </a:r>
            <a:endParaRPr lang="en-US" altLang="ko-KR" sz="900" b="1" dirty="0"/>
          </a:p>
          <a:p>
            <a:r>
              <a:rPr lang="en-US" altLang="ko-KR" sz="900" b="1" dirty="0"/>
              <a:t>           </a:t>
            </a:r>
            <a:r>
              <a:rPr lang="en-US" altLang="ko-KR" sz="900" b="1" dirty="0" err="1"/>
              <a:t>HttpClient</a:t>
            </a:r>
            <a:r>
              <a:rPr lang="en-US" altLang="ko-KR" sz="900" b="1" dirty="0"/>
              <a:t> </a:t>
            </a:r>
            <a:r>
              <a:rPr lang="en-US" altLang="ko-KR" sz="900" b="1" dirty="0" err="1"/>
              <a:t>httpClient</a:t>
            </a:r>
            <a:r>
              <a:rPr lang="en-US" altLang="ko-KR" sz="900" b="1" dirty="0"/>
              <a:t> = </a:t>
            </a:r>
            <a:r>
              <a:rPr lang="en-US" altLang="ko-KR" sz="900" b="1" dirty="0" err="1"/>
              <a:t>HttpClient.create</a:t>
            </a:r>
            <a:r>
              <a:rPr lang="en-US" altLang="ko-KR" sz="900" b="1" dirty="0"/>
              <a:t>() </a:t>
            </a:r>
          </a:p>
          <a:p>
            <a:r>
              <a:rPr lang="en-US" altLang="ko-KR" sz="900" b="1" dirty="0"/>
              <a:t>                          .option(</a:t>
            </a:r>
            <a:r>
              <a:rPr lang="en-US" altLang="ko-KR" sz="900" b="1" dirty="0" err="1"/>
              <a:t>ChannelOption.CONNECT_TIMEOUT_MILLIS</a:t>
            </a:r>
            <a:r>
              <a:rPr lang="en-US" altLang="ko-KR" sz="900" b="1" dirty="0"/>
              <a:t>, 5000)</a:t>
            </a:r>
          </a:p>
          <a:p>
            <a:r>
              <a:rPr lang="en-US" altLang="ko-KR" sz="900" b="1" dirty="0"/>
              <a:t>                         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.</a:t>
            </a:r>
            <a:r>
              <a:rPr lang="en-US" altLang="ko-KR" sz="900" b="1" dirty="0" err="1"/>
              <a:t>responseTimeout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Duration.ofSeconds</a:t>
            </a:r>
            <a:r>
              <a:rPr lang="en-US" altLang="ko-KR" sz="900" b="1" dirty="0"/>
              <a:t>(10)) // </a:t>
            </a:r>
            <a:r>
              <a:rPr lang="ko-KR" altLang="en-US" sz="900" b="1" dirty="0"/>
              <a:t>응답 타임아웃 </a:t>
            </a:r>
            <a:r>
              <a:rPr lang="en-US" altLang="ko-KR" sz="900" b="1" dirty="0"/>
              <a:t>10</a:t>
            </a:r>
            <a:r>
              <a:rPr lang="ko-KR" altLang="en-US" sz="900" b="1" dirty="0"/>
              <a:t>초 </a:t>
            </a:r>
            <a:endParaRPr lang="en-US" altLang="ko-KR" sz="900" b="1" dirty="0"/>
          </a:p>
          <a:p>
            <a:r>
              <a:rPr lang="en-US" altLang="ko-KR" sz="900" b="1" dirty="0"/>
              <a:t>                          .</a:t>
            </a:r>
            <a:r>
              <a:rPr lang="en-US" altLang="ko-KR" sz="900" b="1" dirty="0" err="1"/>
              <a:t>doOnConnected</a:t>
            </a:r>
            <a:r>
              <a:rPr lang="en-US" altLang="ko-KR" sz="900" b="1" dirty="0"/>
              <a:t>(conn -&gt; conn </a:t>
            </a:r>
          </a:p>
          <a:p>
            <a:r>
              <a:rPr lang="en-US" altLang="ko-KR" sz="900" b="1" dirty="0"/>
              <a:t>                                 .</a:t>
            </a:r>
            <a:r>
              <a:rPr lang="en-US" altLang="ko-KR" sz="900" b="1" dirty="0" err="1"/>
              <a:t>addHandlerLast</a:t>
            </a:r>
            <a:r>
              <a:rPr lang="en-US" altLang="ko-KR" sz="900" b="1" dirty="0"/>
              <a:t>(new </a:t>
            </a:r>
            <a:r>
              <a:rPr lang="en-US" altLang="ko-KR" sz="900" b="1" dirty="0" err="1"/>
              <a:t>ReadTimeoutHandler</a:t>
            </a:r>
            <a:r>
              <a:rPr lang="en-US" altLang="ko-KR" sz="900" b="1" dirty="0"/>
              <a:t>(10, </a:t>
            </a:r>
            <a:r>
              <a:rPr lang="en-US" altLang="ko-KR" sz="900" b="1" dirty="0" err="1"/>
              <a:t>TimeUnit.SECONDS</a:t>
            </a:r>
            <a:r>
              <a:rPr lang="en-US" altLang="ko-KR" sz="900" b="1" dirty="0"/>
              <a:t>)) </a:t>
            </a:r>
          </a:p>
          <a:p>
            <a:r>
              <a:rPr lang="en-US" altLang="ko-KR" sz="900" b="1" dirty="0"/>
              <a:t>                                 .</a:t>
            </a:r>
            <a:r>
              <a:rPr lang="en-US" altLang="ko-KR" sz="900" b="1" dirty="0" err="1"/>
              <a:t>addHandlerLast</a:t>
            </a:r>
            <a:r>
              <a:rPr lang="en-US" altLang="ko-KR" sz="900" b="1" dirty="0"/>
              <a:t>(new </a:t>
            </a:r>
            <a:r>
              <a:rPr lang="en-US" altLang="ko-KR" sz="900" b="1" dirty="0" err="1"/>
              <a:t>WriteTimeoutHandler</a:t>
            </a:r>
            <a:r>
              <a:rPr lang="en-US" altLang="ko-KR" sz="900" b="1" dirty="0"/>
              <a:t>(10, </a:t>
            </a:r>
            <a:r>
              <a:rPr lang="en-US" altLang="ko-KR" sz="900" b="1" dirty="0" err="1"/>
              <a:t>TimeUnit.SECONDS</a:t>
            </a:r>
            <a:r>
              <a:rPr lang="en-US" altLang="ko-KR" sz="900" b="1" dirty="0"/>
              <a:t>))); </a:t>
            </a:r>
          </a:p>
          <a:p>
            <a:endParaRPr lang="en-US" altLang="ko-KR" sz="900" b="1" dirty="0"/>
          </a:p>
          <a:p>
            <a:r>
              <a:rPr lang="en-US" altLang="ko-KR" sz="900" b="1" dirty="0"/>
              <a:t>           return </a:t>
            </a:r>
            <a:r>
              <a:rPr lang="en-US" altLang="ko-KR" sz="900" b="1" dirty="0" err="1"/>
              <a:t>WebClient.builder</a:t>
            </a:r>
            <a:r>
              <a:rPr lang="en-US" altLang="ko-KR" sz="900" b="1" dirty="0"/>
              <a:t>() .</a:t>
            </a:r>
            <a:r>
              <a:rPr lang="en-US" altLang="ko-KR" sz="900" b="1" dirty="0" err="1"/>
              <a:t>baseUrl</a:t>
            </a:r>
            <a:r>
              <a:rPr lang="en-US" altLang="ko-KR" sz="900" b="1" dirty="0"/>
              <a:t>("http://10.173.193.80:8100") // </a:t>
            </a:r>
            <a:r>
              <a:rPr lang="en-US" altLang="ko-KR" sz="900" b="1" dirty="0" err="1"/>
              <a:t>FastAPI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imap_gateway</a:t>
            </a:r>
            <a:r>
              <a:rPr lang="en-US" altLang="ko-KR" sz="900" b="1" dirty="0"/>
              <a:t>)</a:t>
            </a:r>
            <a:r>
              <a:rPr lang="ko-KR" altLang="en-US" sz="900" b="1" dirty="0"/>
              <a:t>의 실제 </a:t>
            </a:r>
            <a:r>
              <a:rPr lang="en-US" altLang="ko-KR" sz="900" b="1" dirty="0"/>
              <a:t>IP </a:t>
            </a:r>
            <a:r>
              <a:rPr lang="ko-KR" altLang="en-US" sz="900" b="1" dirty="0"/>
              <a:t>및 포트 </a:t>
            </a:r>
            <a:endParaRPr lang="en-US" altLang="ko-KR" sz="900" b="1" dirty="0"/>
          </a:p>
          <a:p>
            <a:r>
              <a:rPr lang="en-US" altLang="ko-KR" sz="900" b="1" dirty="0"/>
              <a:t>                                  .</a:t>
            </a:r>
            <a:r>
              <a:rPr lang="en-US" altLang="ko-KR" sz="900" b="1" dirty="0" err="1"/>
              <a:t>clientConnector</a:t>
            </a:r>
            <a:r>
              <a:rPr lang="en-US" altLang="ko-KR" sz="900" b="1" dirty="0"/>
              <a:t>(new </a:t>
            </a:r>
            <a:r>
              <a:rPr lang="en-US" altLang="ko-KR" sz="900" b="1" dirty="0" err="1"/>
              <a:t>ReactorClientHttpConnector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httpClient</a:t>
            </a:r>
            <a:r>
              <a:rPr lang="en-US" altLang="ko-KR" sz="900" b="1" dirty="0"/>
              <a:t>)) </a:t>
            </a:r>
          </a:p>
          <a:p>
            <a:r>
              <a:rPr lang="en-US" altLang="ko-KR" sz="900" b="1" dirty="0"/>
              <a:t>                                  .</a:t>
            </a:r>
            <a:r>
              <a:rPr lang="en-US" altLang="ko-KR" sz="900" b="1" dirty="0" err="1"/>
              <a:t>defaultHeader</a:t>
            </a:r>
            <a:r>
              <a:rPr lang="en-US" altLang="ko-KR" sz="900" b="1" dirty="0"/>
              <a:t>("Content-Type", "application/json") .build(); </a:t>
            </a:r>
          </a:p>
          <a:p>
            <a:r>
              <a:rPr lang="en-US" altLang="ko-KR" sz="900" b="1" dirty="0"/>
              <a:t>           } </a:t>
            </a:r>
          </a:p>
          <a:p>
            <a:r>
              <a:rPr lang="en-US" altLang="ko-KR" sz="900" b="1" dirty="0"/>
              <a:t>}</a:t>
            </a:r>
            <a:endParaRPr lang="ko-KR" altLang="en-US" sz="9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A2906E-19EF-4F2A-AD0E-ED27EB67DB54}"/>
              </a:ext>
            </a:extLst>
          </p:cNvPr>
          <p:cNvSpPr txBox="1"/>
          <p:nvPr/>
        </p:nvSpPr>
        <p:spPr>
          <a:xfrm>
            <a:off x="9621042" y="1998056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:8200</a:t>
            </a:r>
            <a:endParaRPr lang="ko-KR" altLang="en-US" sz="11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45E9DC-BBA3-43B9-99F0-85701364C7F3}"/>
              </a:ext>
            </a:extLst>
          </p:cNvPr>
          <p:cNvSpPr txBox="1"/>
          <p:nvPr/>
        </p:nvSpPr>
        <p:spPr>
          <a:xfrm>
            <a:off x="4755726" y="1642421"/>
            <a:ext cx="14912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 err="1"/>
              <a:t>SpringBoot.war</a:t>
            </a:r>
            <a:endParaRPr lang="ko-KR" altLang="en-US" sz="15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6ECA6F-E686-4BCB-8B77-7057C85791A2}"/>
              </a:ext>
            </a:extLst>
          </p:cNvPr>
          <p:cNvSpPr txBox="1"/>
          <p:nvPr/>
        </p:nvSpPr>
        <p:spPr>
          <a:xfrm>
            <a:off x="7013976" y="2227670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:8100</a:t>
            </a:r>
            <a:endParaRPr lang="ko-KR" altLang="en-US" sz="11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2D736C-5237-47E6-AF96-B8F06A536A09}"/>
              </a:ext>
            </a:extLst>
          </p:cNvPr>
          <p:cNvSpPr txBox="1"/>
          <p:nvPr/>
        </p:nvSpPr>
        <p:spPr>
          <a:xfrm>
            <a:off x="9689513" y="2765635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:8300</a:t>
            </a:r>
            <a:endParaRPr lang="ko-KR" altLang="en-US" sz="11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DDADAE-DAE3-4D88-84AA-36751507F840}"/>
              </a:ext>
            </a:extLst>
          </p:cNvPr>
          <p:cNvSpPr txBox="1"/>
          <p:nvPr/>
        </p:nvSpPr>
        <p:spPr>
          <a:xfrm>
            <a:off x="9667227" y="3597952"/>
            <a:ext cx="693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:8400</a:t>
            </a:r>
            <a:endParaRPr lang="ko-KR" altLang="en-US" sz="11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AF009B-E740-49E5-A47D-406CC022D004}"/>
              </a:ext>
            </a:extLst>
          </p:cNvPr>
          <p:cNvSpPr/>
          <p:nvPr/>
        </p:nvSpPr>
        <p:spPr>
          <a:xfrm>
            <a:off x="4629296" y="1106062"/>
            <a:ext cx="1647639" cy="391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5686D7-42C0-4666-85FB-8F99E2E78FD2}"/>
              </a:ext>
            </a:extLst>
          </p:cNvPr>
          <p:cNvSpPr txBox="1"/>
          <p:nvPr/>
        </p:nvSpPr>
        <p:spPr>
          <a:xfrm>
            <a:off x="4644027" y="1134589"/>
            <a:ext cx="1771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SecurityFilterChain</a:t>
            </a:r>
            <a:endParaRPr lang="en-US" altLang="ko-KR" sz="800" dirty="0"/>
          </a:p>
          <a:p>
            <a:r>
              <a:rPr lang="en-US" altLang="ko-KR" sz="800" dirty="0" err="1">
                <a:solidFill>
                  <a:srgbClr val="FF0000"/>
                </a:solidFill>
              </a:rPr>
              <a:t>JwtAuthenticationFilter</a:t>
            </a:r>
            <a:r>
              <a:rPr lang="en-US" altLang="ko-KR" sz="800" dirty="0">
                <a:solidFill>
                  <a:srgbClr val="FF0000"/>
                </a:solidFill>
              </a:rPr>
              <a:t> JWT </a:t>
            </a:r>
            <a:r>
              <a:rPr lang="ko-KR" altLang="en-US" sz="800" dirty="0">
                <a:solidFill>
                  <a:srgbClr val="FF0000"/>
                </a:solidFill>
              </a:rPr>
              <a:t>검증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322B4A-EF50-4855-ADF3-B03B96AF432D}"/>
              </a:ext>
            </a:extLst>
          </p:cNvPr>
          <p:cNvSpPr/>
          <p:nvPr/>
        </p:nvSpPr>
        <p:spPr>
          <a:xfrm>
            <a:off x="3438237" y="913381"/>
            <a:ext cx="178446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Authorization: Bearer </a:t>
            </a:r>
            <a:r>
              <a:rPr lang="en-US" altLang="ko-KR" sz="800" dirty="0" err="1"/>
              <a:t>eyJhbGciOi</a:t>
            </a:r>
            <a:r>
              <a:rPr lang="en-US" altLang="ko-KR" sz="800" dirty="0"/>
              <a:t>...</a:t>
            </a:r>
            <a:endParaRPr lang="ko-KR" altLang="en-US" sz="8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49687C-1237-4B94-B130-3B033B4925A1}"/>
              </a:ext>
            </a:extLst>
          </p:cNvPr>
          <p:cNvSpPr/>
          <p:nvPr/>
        </p:nvSpPr>
        <p:spPr>
          <a:xfrm rot="3898352">
            <a:off x="5929018" y="2700923"/>
            <a:ext cx="13724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chemeClr val="accent2">
                    <a:lumMod val="75000"/>
                  </a:schemeClr>
                </a:solidFill>
              </a:rPr>
              <a:t>X-Internal-Call : true</a:t>
            </a:r>
            <a:endParaRPr lang="ko-KR" alt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444920-8411-432E-9D9F-FD48B57F91D5}"/>
              </a:ext>
            </a:extLst>
          </p:cNvPr>
          <p:cNvSpPr txBox="1"/>
          <p:nvPr/>
        </p:nvSpPr>
        <p:spPr>
          <a:xfrm>
            <a:off x="5529526" y="2533811"/>
            <a:ext cx="1078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C00000"/>
                </a:solidFill>
              </a:rPr>
              <a:t>내부호출이라는것을</a:t>
            </a:r>
            <a:r>
              <a:rPr lang="ko-KR" altLang="en-US" sz="900" dirty="0">
                <a:solidFill>
                  <a:srgbClr val="C00000"/>
                </a:solidFill>
              </a:rPr>
              <a:t> </a:t>
            </a:r>
            <a:r>
              <a:rPr lang="ko-KR" altLang="en-US" sz="900" dirty="0" err="1">
                <a:solidFill>
                  <a:srgbClr val="C00000"/>
                </a:solidFill>
              </a:rPr>
              <a:t>헤더에표시</a:t>
            </a:r>
            <a:endParaRPr lang="ko-KR" altLang="en-US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96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2180672" y="398207"/>
            <a:ext cx="9937588" cy="6386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32153E-09D0-4FBE-AC5E-0CA2C85BB31B}"/>
              </a:ext>
            </a:extLst>
          </p:cNvPr>
          <p:cNvSpPr txBox="1"/>
          <p:nvPr/>
        </p:nvSpPr>
        <p:spPr>
          <a:xfrm>
            <a:off x="-299" y="21354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Browser 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1519CB9-89D9-4042-B843-4A6ABBB605C0}"/>
              </a:ext>
            </a:extLst>
          </p:cNvPr>
          <p:cNvGrpSpPr/>
          <p:nvPr/>
        </p:nvGrpSpPr>
        <p:grpSpPr>
          <a:xfrm>
            <a:off x="205772" y="542512"/>
            <a:ext cx="1017684" cy="925462"/>
            <a:chOff x="2394920" y="587468"/>
            <a:chExt cx="4215605" cy="3430859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FE3943-CFE9-4396-9328-6FAC42ED686D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CDF3429-AAE9-4BB4-A59C-7638025759DF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845ADD-C5A3-44F3-AA90-6A65F1F7A892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5B7823F7-7957-4814-A49D-25E36632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582873"/>
            <a:ext cx="755561" cy="7789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B67F69A-3FFC-41B0-8DAA-8211C0B8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" y="582873"/>
            <a:ext cx="199032" cy="8898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6FD3B44-00EF-4277-BA94-D90C9EA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8237" y="608788"/>
            <a:ext cx="918768" cy="9438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35A1384-67DD-4735-BFEB-3387EC6C6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49" y="681989"/>
            <a:ext cx="753325" cy="75884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9B2814-D97C-4FB7-901D-94CAE94E8651}"/>
              </a:ext>
            </a:extLst>
          </p:cNvPr>
          <p:cNvSpPr/>
          <p:nvPr/>
        </p:nvSpPr>
        <p:spPr>
          <a:xfrm>
            <a:off x="20278" y="4196577"/>
            <a:ext cx="9701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-client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CE58-635F-427C-BAB3-0EAB6AAA8910}"/>
              </a:ext>
            </a:extLst>
          </p:cNvPr>
          <p:cNvSpPr/>
          <p:nvPr/>
        </p:nvSpPr>
        <p:spPr>
          <a:xfrm>
            <a:off x="20278" y="3887109"/>
            <a:ext cx="1032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-admin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34BF19-5339-423F-836C-135842875E3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223456" y="1048206"/>
            <a:ext cx="1078438" cy="7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D900DA-7280-479E-9D50-7EC7692FE32C}"/>
              </a:ext>
            </a:extLst>
          </p:cNvPr>
          <p:cNvSpPr txBox="1"/>
          <p:nvPr/>
        </p:nvSpPr>
        <p:spPr>
          <a:xfrm>
            <a:off x="2202194" y="35757"/>
            <a:ext cx="28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Windows 2022 Server VM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C360AD-3405-4494-B327-8B62D6E80C38}"/>
              </a:ext>
            </a:extLst>
          </p:cNvPr>
          <p:cNvSpPr/>
          <p:nvPr/>
        </p:nvSpPr>
        <p:spPr>
          <a:xfrm>
            <a:off x="55447" y="3811516"/>
            <a:ext cx="1736272" cy="2972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3D081-EA23-484E-B1D9-6CC349B09847}"/>
              </a:ext>
            </a:extLst>
          </p:cNvPr>
          <p:cNvSpPr txBox="1"/>
          <p:nvPr/>
        </p:nvSpPr>
        <p:spPr>
          <a:xfrm>
            <a:off x="13276" y="4574675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</a:t>
            </a:r>
            <a:r>
              <a:rPr lang="en-US" altLang="ko-KR" sz="1200" dirty="0"/>
              <a:t>-edge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AA98C-E7EF-4B1F-9636-0E4FB60F1BAE}"/>
              </a:ext>
            </a:extLst>
          </p:cNvPr>
          <p:cNvSpPr txBox="1"/>
          <p:nvPr/>
        </p:nvSpPr>
        <p:spPr>
          <a:xfrm>
            <a:off x="12473" y="4929913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Imap-ms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07200-D3E0-49E5-9CE4-F031F1B56FA5}"/>
              </a:ext>
            </a:extLst>
          </p:cNvPr>
          <p:cNvSpPr txBox="1"/>
          <p:nvPr/>
        </p:nvSpPr>
        <p:spPr>
          <a:xfrm>
            <a:off x="205772" y="1635583"/>
            <a:ext cx="1404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10.173.193.80/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6B0C-F8D1-4717-BC2B-5B3D1B16CF25}"/>
              </a:ext>
            </a:extLst>
          </p:cNvPr>
          <p:cNvSpPr txBox="1"/>
          <p:nvPr/>
        </p:nvSpPr>
        <p:spPr>
          <a:xfrm>
            <a:off x="205772" y="1932311"/>
            <a:ext cx="2018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</a:rPr>
              <a:t>10.173.193.80/</a:t>
            </a:r>
            <a:r>
              <a:rPr lang="en-US" altLang="ko-KR" sz="1000" b="1" dirty="0" err="1">
                <a:solidFill>
                  <a:srgbClr val="C00000"/>
                </a:solidFill>
              </a:rPr>
              <a:t>api</a:t>
            </a:r>
            <a:r>
              <a:rPr lang="en-US" altLang="ko-KR" sz="1000" b="1" dirty="0">
                <a:solidFill>
                  <a:srgbClr val="C00000"/>
                </a:solidFill>
              </a:rPr>
              <a:t>/user/spawn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906AEA6-1594-4DA7-8441-DC26800530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9071" y="2650834"/>
            <a:ext cx="1760958" cy="1128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8830EDA-025A-44AE-A879-D35564E2A5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6785" y="2843593"/>
            <a:ext cx="2028962" cy="999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426F31-0670-4E23-A565-B0E2F784A568}"/>
              </a:ext>
            </a:extLst>
          </p:cNvPr>
          <p:cNvSpPr txBox="1"/>
          <p:nvPr/>
        </p:nvSpPr>
        <p:spPr>
          <a:xfrm>
            <a:off x="16884" y="3463472"/>
            <a:ext cx="799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P-DEP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45BF51-10F2-4140-86BC-42018639237E}"/>
              </a:ext>
            </a:extLst>
          </p:cNvPr>
          <p:cNvSpPr/>
          <p:nvPr/>
        </p:nvSpPr>
        <p:spPr>
          <a:xfrm>
            <a:off x="2309024" y="405089"/>
            <a:ext cx="7178789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900" b="1" dirty="0"/>
          </a:p>
          <a:p>
            <a:r>
              <a:rPr lang="ko-KR" altLang="en-US" sz="900" b="1" dirty="0"/>
              <a:t>@</a:t>
            </a:r>
            <a:r>
              <a:rPr lang="ko-KR" altLang="en-US" sz="900" b="1" dirty="0" err="1"/>
              <a:t>RestController</a:t>
            </a:r>
            <a:endParaRPr lang="ko-KR" altLang="en-US" sz="900" b="1" dirty="0"/>
          </a:p>
          <a:p>
            <a:r>
              <a:rPr lang="ko-KR" altLang="en-US" sz="900" b="1" dirty="0"/>
              <a:t>@</a:t>
            </a:r>
            <a:r>
              <a:rPr lang="ko-KR" altLang="en-US" sz="900" b="1" dirty="0" err="1"/>
              <a:t>RequestMapping</a:t>
            </a:r>
            <a:r>
              <a:rPr lang="ko-KR" altLang="en-US" sz="900" b="1" dirty="0"/>
              <a:t>("</a:t>
            </a:r>
            <a:r>
              <a:rPr lang="ko-KR" altLang="en-US" sz="900" b="1" dirty="0">
                <a:solidFill>
                  <a:srgbClr val="C00000"/>
                </a:solidFill>
              </a:rPr>
              <a:t>/</a:t>
            </a:r>
            <a:r>
              <a:rPr lang="ko-KR" altLang="en-US" sz="900" b="1" dirty="0" err="1">
                <a:solidFill>
                  <a:srgbClr val="C00000"/>
                </a:solidFill>
              </a:rPr>
              <a:t>api</a:t>
            </a:r>
            <a:r>
              <a:rPr lang="ko-KR" altLang="en-US" sz="900" b="1" dirty="0">
                <a:solidFill>
                  <a:srgbClr val="C00000"/>
                </a:solidFill>
              </a:rPr>
              <a:t>/</a:t>
            </a:r>
            <a:r>
              <a:rPr lang="ko-KR" altLang="en-US" sz="900" b="1" dirty="0" err="1">
                <a:solidFill>
                  <a:srgbClr val="C00000"/>
                </a:solidFill>
              </a:rPr>
              <a:t>user</a:t>
            </a:r>
            <a:r>
              <a:rPr lang="ko-KR" altLang="en-US" sz="900" b="1" dirty="0"/>
              <a:t>")</a:t>
            </a:r>
          </a:p>
          <a:p>
            <a:r>
              <a:rPr lang="ko-KR" altLang="en-US" sz="900" b="1" dirty="0" err="1"/>
              <a:t>public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class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UserSpawnController</a:t>
            </a:r>
            <a:r>
              <a:rPr lang="ko-KR" altLang="en-US" sz="900" b="1" dirty="0"/>
              <a:t> {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private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final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WebClient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imapGatewayClient</a:t>
            </a:r>
            <a:r>
              <a:rPr lang="ko-KR" altLang="en-US" sz="900" b="1" dirty="0"/>
              <a:t>;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// 생성자 주입 (</a:t>
            </a:r>
            <a:r>
              <a:rPr lang="ko-KR" altLang="en-US" sz="900" b="1" dirty="0" err="1"/>
              <a:t>WebClientConfig에서</a:t>
            </a:r>
            <a:r>
              <a:rPr lang="ko-KR" altLang="en-US" sz="900" b="1" dirty="0"/>
              <a:t> 등록한 </a:t>
            </a:r>
            <a:r>
              <a:rPr lang="ko-KR" altLang="en-US" sz="900" b="1" dirty="0" err="1"/>
              <a:t>Bean이</a:t>
            </a:r>
            <a:r>
              <a:rPr lang="ko-KR" altLang="en-US" sz="900" b="1" dirty="0"/>
              <a:t> 주입됨)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public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UserSpawnController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WebClient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imapGatewayClient</a:t>
            </a:r>
            <a:r>
              <a:rPr lang="ko-KR" altLang="en-US" sz="900" b="1" dirty="0"/>
              <a:t>) {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this.imapGatewayClient</a:t>
            </a:r>
            <a:r>
              <a:rPr lang="ko-KR" altLang="en-US" sz="900" b="1" dirty="0"/>
              <a:t> = </a:t>
            </a:r>
            <a:r>
              <a:rPr lang="ko-KR" altLang="en-US" sz="900" b="1" dirty="0" err="1"/>
              <a:t>imapGatewayClient</a:t>
            </a:r>
            <a:r>
              <a:rPr lang="ko-KR" altLang="en-US" sz="900" b="1" dirty="0"/>
              <a:t>;</a:t>
            </a:r>
          </a:p>
          <a:p>
            <a:r>
              <a:rPr lang="ko-KR" altLang="en-US" sz="900" b="1" dirty="0"/>
              <a:t>    }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@</a:t>
            </a:r>
            <a:r>
              <a:rPr lang="ko-KR" altLang="en-US" sz="900" b="1" dirty="0" err="1"/>
              <a:t>GetMapping</a:t>
            </a:r>
            <a:r>
              <a:rPr lang="ko-KR" altLang="en-US" sz="900" b="1" dirty="0"/>
              <a:t>("</a:t>
            </a:r>
            <a:r>
              <a:rPr lang="ko-KR" altLang="en-US" sz="900" b="1" dirty="0">
                <a:solidFill>
                  <a:srgbClr val="C00000"/>
                </a:solidFill>
              </a:rPr>
              <a:t>/</a:t>
            </a:r>
            <a:r>
              <a:rPr lang="ko-KR" altLang="en-US" sz="900" b="1" dirty="0" err="1">
                <a:solidFill>
                  <a:srgbClr val="C00000"/>
                </a:solidFill>
              </a:rPr>
              <a:t>spawn</a:t>
            </a:r>
            <a:r>
              <a:rPr lang="ko-KR" altLang="en-US" sz="900" b="1" dirty="0"/>
              <a:t>")</a:t>
            </a:r>
          </a:p>
          <a:p>
            <a:r>
              <a:rPr lang="ko-KR" altLang="en-US" sz="900" b="1" dirty="0"/>
              <a:t>    </a:t>
            </a:r>
            <a:r>
              <a:rPr lang="ko-KR" altLang="en-US" sz="900" b="1" dirty="0" err="1"/>
              <a:t>public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Mono</a:t>
            </a:r>
            <a:r>
              <a:rPr lang="ko-KR" altLang="en-US" sz="900" b="1" dirty="0"/>
              <a:t>&lt;</a:t>
            </a:r>
            <a:r>
              <a:rPr lang="ko-KR" altLang="en-US" sz="900" b="1" dirty="0" err="1">
                <a:solidFill>
                  <a:srgbClr val="00B0F0"/>
                </a:solidFill>
              </a:rPr>
              <a:t>ResponseEntity</a:t>
            </a:r>
            <a:r>
              <a:rPr lang="ko-KR" altLang="en-US" sz="900" b="1" dirty="0"/>
              <a:t>&lt;</a:t>
            </a:r>
            <a:r>
              <a:rPr lang="ko-KR" altLang="en-US" sz="900" b="1" dirty="0" err="1"/>
              <a:t>String</a:t>
            </a:r>
            <a:r>
              <a:rPr lang="ko-KR" altLang="en-US" sz="900" b="1" dirty="0"/>
              <a:t>&gt;&gt; </a:t>
            </a:r>
            <a:r>
              <a:rPr lang="ko-KR" altLang="en-US" sz="900" b="1" dirty="0" err="1"/>
              <a:t>spawnUser</a:t>
            </a:r>
            <a:r>
              <a:rPr lang="ko-KR" altLang="en-US" sz="900" b="1" dirty="0"/>
              <a:t>(@</a:t>
            </a:r>
            <a:r>
              <a:rPr lang="ko-KR" altLang="en-US" sz="900" b="1" dirty="0" err="1"/>
              <a:t>AuthenticationPrincipal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UserDetails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userDetails</a:t>
            </a:r>
            <a:r>
              <a:rPr lang="ko-KR" altLang="en-US" sz="900" b="1" dirty="0"/>
              <a:t>) {</a:t>
            </a:r>
            <a:endParaRPr lang="en-US" altLang="ko-KR" sz="900" b="1" dirty="0"/>
          </a:p>
          <a:p>
            <a:endParaRPr lang="ko-KR" altLang="en-US" sz="900" b="1" dirty="0"/>
          </a:p>
          <a:p>
            <a:r>
              <a:rPr lang="ko-KR" altLang="en-US" sz="900" b="1" dirty="0"/>
              <a:t>        // 1. </a:t>
            </a:r>
            <a:r>
              <a:rPr lang="ko-KR" altLang="en-US" sz="900" b="1" dirty="0" err="1"/>
              <a:t>Spring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Security에서</a:t>
            </a:r>
            <a:r>
              <a:rPr lang="ko-KR" altLang="en-US" sz="900" b="1" dirty="0"/>
              <a:t> 현재 로그인한 유저의 </a:t>
            </a:r>
            <a:r>
              <a:rPr lang="ko-KR" altLang="en-US" sz="900" b="1" dirty="0" err="1"/>
              <a:t>ID를</a:t>
            </a:r>
            <a:r>
              <a:rPr lang="ko-KR" altLang="en-US" sz="900" b="1" dirty="0"/>
              <a:t> 가져옴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String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username</a:t>
            </a:r>
            <a:r>
              <a:rPr lang="ko-KR" altLang="en-US" sz="900" b="1" dirty="0"/>
              <a:t> = </a:t>
            </a:r>
            <a:r>
              <a:rPr lang="ko-KR" altLang="en-US" sz="900" b="1" dirty="0" err="1"/>
              <a:t>userDetails.getUsername</a:t>
            </a:r>
            <a:r>
              <a:rPr lang="ko-KR" altLang="en-US" sz="900" b="1" dirty="0"/>
              <a:t>();</a:t>
            </a:r>
          </a:p>
          <a:p>
            <a:endParaRPr lang="ko-KR" altLang="en-US" sz="900" b="1" dirty="0"/>
          </a:p>
          <a:p>
            <a:r>
              <a:rPr lang="ko-KR" altLang="en-US" sz="900" b="1" dirty="0"/>
              <a:t>        // 2. </a:t>
            </a:r>
            <a:r>
              <a:rPr lang="ko-KR" altLang="en-US" sz="900" b="1" dirty="0" err="1"/>
              <a:t>WebClient를</a:t>
            </a:r>
            <a:r>
              <a:rPr lang="ko-KR" altLang="en-US" sz="900" b="1" dirty="0"/>
              <a:t> 이용해 </a:t>
            </a:r>
            <a:r>
              <a:rPr lang="ko-KR" altLang="en-US" sz="900" b="1" dirty="0" err="1"/>
              <a:t>FastAPI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imap_gateway</a:t>
            </a:r>
            <a:r>
              <a:rPr lang="ko-KR" altLang="en-US" sz="900" b="1" dirty="0"/>
              <a:t>) 호출</a:t>
            </a:r>
          </a:p>
          <a:p>
            <a:r>
              <a:rPr lang="ko-KR" altLang="en-US" sz="900" b="1" dirty="0"/>
              <a:t>        </a:t>
            </a:r>
            <a:r>
              <a:rPr lang="ko-KR" altLang="en-US" sz="900" b="1" dirty="0" err="1"/>
              <a:t>return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imapGatewayClient.get</a:t>
            </a:r>
            <a:r>
              <a:rPr lang="ko-KR" altLang="en-US" sz="900" b="1" dirty="0"/>
              <a:t>()</a:t>
            </a:r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uri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uriBuilder</a:t>
            </a:r>
            <a:r>
              <a:rPr lang="ko-KR" altLang="en-US" sz="900" b="1" dirty="0"/>
              <a:t> -&gt; </a:t>
            </a:r>
            <a:r>
              <a:rPr lang="ko-KR" altLang="en-US" sz="900" b="1" dirty="0" err="1"/>
              <a:t>uriBuilder</a:t>
            </a:r>
            <a:endParaRPr lang="ko-KR" altLang="en-US" sz="900" b="1" dirty="0"/>
          </a:p>
          <a:p>
            <a:r>
              <a:rPr lang="ko-KR" altLang="en-US" sz="900" b="1" dirty="0"/>
              <a:t>                        .</a:t>
            </a:r>
            <a:r>
              <a:rPr lang="ko-KR" altLang="en-US" sz="900" b="1" dirty="0" err="1"/>
              <a:t>path</a:t>
            </a:r>
            <a:r>
              <a:rPr lang="ko-KR" altLang="en-US" sz="900" b="1" dirty="0"/>
              <a:t>("/</a:t>
            </a:r>
            <a:r>
              <a:rPr lang="ko-KR" altLang="en-US" sz="900" b="1" dirty="0" err="1"/>
              <a:t>imap</a:t>
            </a:r>
            <a:r>
              <a:rPr lang="ko-KR" altLang="en-US" sz="900" b="1" dirty="0"/>
              <a:t>/</a:t>
            </a:r>
            <a:r>
              <a:rPr lang="ko-KR" altLang="en-US" sz="900" b="1" dirty="0" err="1"/>
              <a:t>spawn</a:t>
            </a:r>
            <a:r>
              <a:rPr lang="ko-KR" altLang="en-US" sz="900" b="1" dirty="0"/>
              <a:t>")</a:t>
            </a:r>
          </a:p>
          <a:p>
            <a:r>
              <a:rPr lang="ko-KR" altLang="en-US" sz="900" b="1" dirty="0"/>
              <a:t>                        .</a:t>
            </a:r>
            <a:r>
              <a:rPr lang="ko-KR" altLang="en-US" sz="900" b="1" dirty="0" err="1"/>
              <a:t>queryParam</a:t>
            </a:r>
            <a:r>
              <a:rPr lang="ko-KR" altLang="en-US" sz="900" b="1" dirty="0"/>
              <a:t>("</a:t>
            </a:r>
            <a:r>
              <a:rPr lang="ko-KR" altLang="en-US" sz="900" b="1" dirty="0" err="1"/>
              <a:t>userId</a:t>
            </a:r>
            <a:r>
              <a:rPr lang="ko-KR" altLang="en-US" sz="900" b="1" dirty="0"/>
              <a:t>", </a:t>
            </a:r>
            <a:r>
              <a:rPr lang="ko-KR" altLang="en-US" sz="900" b="1" dirty="0" err="1"/>
              <a:t>username</a:t>
            </a:r>
            <a:r>
              <a:rPr lang="ko-KR" altLang="en-US" sz="900" b="1" dirty="0"/>
              <a:t>) // </a:t>
            </a:r>
            <a:r>
              <a:rPr lang="ko-KR" altLang="en-US" sz="900" b="1" dirty="0" err="1"/>
              <a:t>FastAPI에</a:t>
            </a:r>
            <a:r>
              <a:rPr lang="ko-KR" altLang="en-US" sz="900" b="1" dirty="0"/>
              <a:t> 파라미터로 유저 정보 전달</a:t>
            </a:r>
          </a:p>
          <a:p>
            <a:r>
              <a:rPr lang="ko-KR" altLang="en-US" sz="900" b="1" dirty="0"/>
              <a:t>                        .</a:t>
            </a:r>
            <a:r>
              <a:rPr lang="ko-KR" altLang="en-US" sz="900" b="1" dirty="0" err="1"/>
              <a:t>build</a:t>
            </a:r>
            <a:r>
              <a:rPr lang="ko-KR" altLang="en-US" sz="900" b="1" dirty="0"/>
              <a:t>())</a:t>
            </a:r>
          </a:p>
          <a:p>
            <a:r>
              <a:rPr lang="ko-KR" altLang="en-US" sz="900" b="1" dirty="0"/>
              <a:t>                // 필요하다면 </a:t>
            </a:r>
            <a:r>
              <a:rPr lang="ko-KR" altLang="en-US" sz="900" b="1" dirty="0" err="1"/>
              <a:t>시큐리티</a:t>
            </a:r>
            <a:r>
              <a:rPr lang="ko-KR" altLang="en-US" sz="900" b="1" dirty="0"/>
              <a:t> 인증 토큰을 헤더에 담아 보낼 수도 있습니다.</a:t>
            </a:r>
          </a:p>
          <a:p>
            <a:r>
              <a:rPr lang="ko-KR" altLang="en-US" sz="900" b="1" dirty="0"/>
              <a:t>                // .</a:t>
            </a:r>
            <a:r>
              <a:rPr lang="ko-KR" altLang="en-US" sz="900" b="1" dirty="0" err="1"/>
              <a:t>header</a:t>
            </a:r>
            <a:r>
              <a:rPr lang="ko-KR" altLang="en-US" sz="900" b="1" dirty="0"/>
              <a:t>("</a:t>
            </a:r>
            <a:r>
              <a:rPr lang="ko-KR" altLang="en-US" sz="900" b="1" dirty="0" err="1"/>
              <a:t>X-User-Id</a:t>
            </a:r>
            <a:r>
              <a:rPr lang="ko-KR" altLang="en-US" sz="900" b="1" dirty="0"/>
              <a:t>", </a:t>
            </a:r>
            <a:r>
              <a:rPr lang="ko-KR" altLang="en-US" sz="900" b="1" dirty="0" err="1"/>
              <a:t>username</a:t>
            </a:r>
            <a:r>
              <a:rPr lang="ko-KR" altLang="en-US" sz="900" b="1" dirty="0"/>
              <a:t>) </a:t>
            </a:r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retrieve</a:t>
            </a:r>
            <a:r>
              <a:rPr lang="ko-KR" altLang="en-US" sz="900" b="1" dirty="0"/>
              <a:t>()</a:t>
            </a:r>
          </a:p>
          <a:p>
            <a:r>
              <a:rPr lang="ko-KR" altLang="en-US" sz="900" b="1" dirty="0"/>
              <a:t>                </a:t>
            </a:r>
          </a:p>
          <a:p>
            <a:r>
              <a:rPr lang="ko-KR" altLang="en-US" sz="900" b="1" dirty="0"/>
              <a:t>                // 3. 에러 핸들링: </a:t>
            </a:r>
            <a:r>
              <a:rPr lang="ko-KR" altLang="en-US" sz="900" b="1" dirty="0" err="1"/>
              <a:t>FastAPI가</a:t>
            </a:r>
            <a:r>
              <a:rPr lang="ko-KR" altLang="en-US" sz="900" b="1" dirty="0"/>
              <a:t> 4xx 또는 5xx 에러를 던질 때 처리</a:t>
            </a:r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onStatus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HttpStatus</a:t>
            </a:r>
            <a:r>
              <a:rPr lang="ko-KR" altLang="en-US" sz="900" b="1" dirty="0"/>
              <a:t>::</a:t>
            </a:r>
            <a:r>
              <a:rPr lang="ko-KR" altLang="en-US" sz="900" b="1" dirty="0" err="1"/>
              <a:t>isError</a:t>
            </a:r>
            <a:r>
              <a:rPr lang="ko-KR" altLang="en-US" sz="900" b="1" dirty="0"/>
              <a:t>, </a:t>
            </a:r>
            <a:r>
              <a:rPr lang="ko-KR" altLang="en-US" sz="900" b="1" dirty="0" err="1"/>
              <a:t>clientResponse</a:t>
            </a:r>
            <a:r>
              <a:rPr lang="ko-KR" altLang="en-US" sz="900" b="1" dirty="0"/>
              <a:t> -&gt; </a:t>
            </a:r>
          </a:p>
          <a:p>
            <a:r>
              <a:rPr lang="ko-KR" altLang="en-US" sz="900" b="1" dirty="0"/>
              <a:t>                    </a:t>
            </a:r>
            <a:r>
              <a:rPr lang="ko-KR" altLang="en-US" sz="900" b="1" dirty="0" err="1"/>
              <a:t>clientResponse.bodyToMono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String.class</a:t>
            </a:r>
            <a:r>
              <a:rPr lang="ko-KR" altLang="en-US" sz="900" b="1" dirty="0"/>
              <a:t>)</a:t>
            </a:r>
          </a:p>
          <a:p>
            <a:r>
              <a:rPr lang="ko-KR" altLang="en-US" sz="900" b="1" dirty="0"/>
              <a:t>                        .</a:t>
            </a:r>
            <a:r>
              <a:rPr lang="ko-KR" altLang="en-US" sz="900" b="1" dirty="0" err="1"/>
              <a:t>flatMap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errorBody</a:t>
            </a:r>
            <a:r>
              <a:rPr lang="ko-KR" altLang="en-US" sz="900" b="1" dirty="0"/>
              <a:t> -&gt; </a:t>
            </a:r>
            <a:r>
              <a:rPr lang="ko-KR" altLang="en-US" sz="900" b="1" dirty="0" err="1"/>
              <a:t>Mono.error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new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RuntimeException</a:t>
            </a:r>
            <a:r>
              <a:rPr lang="ko-KR" altLang="en-US" sz="900" b="1" dirty="0"/>
              <a:t>("MS 호출 실패: " + </a:t>
            </a:r>
            <a:r>
              <a:rPr lang="ko-KR" altLang="en-US" sz="900" b="1" dirty="0" err="1"/>
              <a:t>errorBody</a:t>
            </a:r>
            <a:r>
              <a:rPr lang="ko-KR" altLang="en-US" sz="900" b="1" dirty="0"/>
              <a:t>)))</a:t>
            </a:r>
          </a:p>
          <a:p>
            <a:r>
              <a:rPr lang="ko-KR" altLang="en-US" sz="900" b="1" dirty="0"/>
              <a:t>                )</a:t>
            </a:r>
          </a:p>
          <a:p>
            <a:r>
              <a:rPr lang="ko-KR" altLang="en-US" sz="900" b="1" dirty="0"/>
              <a:t>                </a:t>
            </a:r>
          </a:p>
          <a:p>
            <a:r>
              <a:rPr lang="ko-KR" altLang="en-US" sz="900" b="1" dirty="0"/>
              <a:t>                // 4. </a:t>
            </a:r>
            <a:r>
              <a:rPr lang="ko-KR" altLang="en-US" sz="900" b="1" dirty="0" err="1"/>
              <a:t>FastAPI가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리턴한</a:t>
            </a:r>
            <a:r>
              <a:rPr lang="ko-KR" altLang="en-US" sz="900" b="1" dirty="0"/>
              <a:t> JSON 바디를 </a:t>
            </a:r>
            <a:r>
              <a:rPr lang="ko-KR" altLang="en-US" sz="900" b="1" dirty="0" err="1"/>
              <a:t>String</a:t>
            </a:r>
            <a:r>
              <a:rPr lang="ko-KR" altLang="en-US" sz="900" b="1" dirty="0"/>
              <a:t>(문자열) 구조 그대로 </a:t>
            </a:r>
            <a:r>
              <a:rPr lang="ko-KR" altLang="en-US" sz="900" b="1" dirty="0" err="1"/>
              <a:t>읽어옴</a:t>
            </a:r>
            <a:endParaRPr lang="ko-KR" altLang="en-US" sz="900" b="1" dirty="0"/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bodyToMono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String.class</a:t>
            </a:r>
            <a:r>
              <a:rPr lang="ko-KR" altLang="en-US" sz="900" b="1" dirty="0"/>
              <a:t>)</a:t>
            </a:r>
          </a:p>
          <a:p>
            <a:r>
              <a:rPr lang="ko-KR" altLang="en-US" sz="900" b="1" dirty="0"/>
              <a:t>                </a:t>
            </a:r>
          </a:p>
          <a:p>
            <a:r>
              <a:rPr lang="ko-KR" altLang="en-US" sz="900" b="1" dirty="0"/>
              <a:t>                // 5. </a:t>
            </a:r>
            <a:r>
              <a:rPr lang="ko-KR" altLang="en-US" sz="900" b="1" dirty="0">
                <a:solidFill>
                  <a:srgbClr val="00B0F0"/>
                </a:solidFill>
              </a:rPr>
              <a:t>읽어온 </a:t>
            </a:r>
            <a:r>
              <a:rPr lang="ko-KR" altLang="en-US" sz="900" b="1" dirty="0" err="1">
                <a:solidFill>
                  <a:srgbClr val="00B0F0"/>
                </a:solidFill>
              </a:rPr>
              <a:t>String</a:t>
            </a:r>
            <a:r>
              <a:rPr lang="ko-KR" altLang="en-US" sz="900" b="1" dirty="0">
                <a:solidFill>
                  <a:srgbClr val="00B0F0"/>
                </a:solidFill>
              </a:rPr>
              <a:t> 데이터를 </a:t>
            </a:r>
            <a:r>
              <a:rPr lang="ko-KR" altLang="en-US" sz="900" b="1" dirty="0" err="1">
                <a:solidFill>
                  <a:srgbClr val="00B0F0"/>
                </a:solidFill>
              </a:rPr>
              <a:t>ResponseEntity에</a:t>
            </a:r>
            <a:r>
              <a:rPr lang="ko-KR" altLang="en-US" sz="900" b="1" dirty="0">
                <a:solidFill>
                  <a:srgbClr val="00B0F0"/>
                </a:solidFill>
              </a:rPr>
              <a:t> 담아서 원래 브라우저로 리턴</a:t>
            </a:r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map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responseBody</a:t>
            </a:r>
            <a:r>
              <a:rPr lang="ko-KR" altLang="en-US" sz="900" b="1" dirty="0"/>
              <a:t> -&gt; </a:t>
            </a:r>
            <a:r>
              <a:rPr lang="ko-KR" altLang="en-US" sz="900" b="1" dirty="0" err="1"/>
              <a:t>ResponseEntity.ok</a:t>
            </a:r>
            <a:r>
              <a:rPr lang="ko-KR" altLang="en-US" sz="900" b="1" dirty="0"/>
              <a:t>().</a:t>
            </a:r>
            <a:r>
              <a:rPr lang="ko-KR" altLang="en-US" sz="900" b="1" dirty="0" err="1"/>
              <a:t>body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responseBody</a:t>
            </a:r>
            <a:r>
              <a:rPr lang="ko-KR" altLang="en-US" sz="900" b="1" dirty="0"/>
              <a:t>))</a:t>
            </a:r>
          </a:p>
          <a:p>
            <a:r>
              <a:rPr lang="ko-KR" altLang="en-US" sz="900" b="1" dirty="0"/>
              <a:t>                </a:t>
            </a:r>
          </a:p>
          <a:p>
            <a:r>
              <a:rPr lang="ko-KR" altLang="en-US" sz="900" b="1" dirty="0"/>
              <a:t>                // 6. 예외 발생 시(타임아웃, 예외 발생 등) 브라우저에 500 에러와 메시지 반환</a:t>
            </a:r>
          </a:p>
          <a:p>
            <a:r>
              <a:rPr lang="ko-KR" altLang="en-US" sz="900" b="1" dirty="0"/>
              <a:t>                .</a:t>
            </a:r>
            <a:r>
              <a:rPr lang="ko-KR" altLang="en-US" sz="900" b="1" dirty="0" err="1"/>
              <a:t>onErrorReturn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ResponseEntity.status</a:t>
            </a:r>
            <a:r>
              <a:rPr lang="ko-KR" altLang="en-US" sz="900" b="1" dirty="0"/>
              <a:t>(</a:t>
            </a:r>
            <a:r>
              <a:rPr lang="ko-KR" altLang="en-US" sz="900" b="1" dirty="0" err="1"/>
              <a:t>HttpStatus.INTERNAL_SERVER_ERROR</a:t>
            </a:r>
            <a:r>
              <a:rPr lang="ko-KR" altLang="en-US" sz="900" b="1" dirty="0"/>
              <a:t>)</a:t>
            </a:r>
          </a:p>
          <a:p>
            <a:r>
              <a:rPr lang="ko-KR" altLang="en-US" sz="900" b="1" dirty="0"/>
              <a:t>                        .</a:t>
            </a:r>
            <a:r>
              <a:rPr lang="ko-KR" altLang="en-US" sz="900" b="1" dirty="0" err="1"/>
              <a:t>body</a:t>
            </a:r>
            <a:r>
              <a:rPr lang="ko-KR" altLang="en-US" sz="900" b="1" dirty="0"/>
              <a:t>("{\"</a:t>
            </a:r>
            <a:r>
              <a:rPr lang="ko-KR" altLang="en-US" sz="900" b="1" dirty="0" err="1"/>
              <a:t>error</a:t>
            </a:r>
            <a:r>
              <a:rPr lang="ko-KR" altLang="en-US" sz="900" b="1" dirty="0"/>
              <a:t>\": \"내부 </a:t>
            </a:r>
            <a:r>
              <a:rPr lang="ko-KR" altLang="en-US" sz="900" b="1" dirty="0" err="1"/>
              <a:t>마이크로서비스</a:t>
            </a:r>
            <a:r>
              <a:rPr lang="ko-KR" altLang="en-US" sz="900" b="1" dirty="0"/>
              <a:t> 통신 중 오류가 발생했습니다.\"}"));</a:t>
            </a:r>
          </a:p>
          <a:p>
            <a:r>
              <a:rPr lang="ko-KR" altLang="en-US" sz="900" b="1" dirty="0"/>
              <a:t>    }</a:t>
            </a:r>
          </a:p>
          <a:p>
            <a:r>
              <a:rPr lang="ko-KR" altLang="en-US" sz="9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915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2180672" y="398207"/>
            <a:ext cx="9937588" cy="63860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32153E-09D0-4FBE-AC5E-0CA2C85BB31B}"/>
              </a:ext>
            </a:extLst>
          </p:cNvPr>
          <p:cNvSpPr txBox="1"/>
          <p:nvPr/>
        </p:nvSpPr>
        <p:spPr>
          <a:xfrm>
            <a:off x="-299" y="21354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Browser 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1519CB9-89D9-4042-B843-4A6ABBB605C0}"/>
              </a:ext>
            </a:extLst>
          </p:cNvPr>
          <p:cNvGrpSpPr/>
          <p:nvPr/>
        </p:nvGrpSpPr>
        <p:grpSpPr>
          <a:xfrm>
            <a:off x="205772" y="542512"/>
            <a:ext cx="1017684" cy="925462"/>
            <a:chOff x="2394920" y="587468"/>
            <a:chExt cx="4215605" cy="3430859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2FE3943-CFE9-4396-9328-6FAC42ED686D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CDF3429-AAE9-4BB4-A59C-7638025759DF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3845ADD-C5A3-44F3-AA90-6A65F1F7A892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id="{5B7823F7-7957-4814-A49D-25E366323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7" y="582873"/>
            <a:ext cx="755561" cy="77899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B67F69A-3FFC-41B0-8DAA-8211C0B88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79" y="582873"/>
            <a:ext cx="199032" cy="889837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06FD3B44-00EF-4277-BA94-D90C9EA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8237" y="608788"/>
            <a:ext cx="918768" cy="9438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35A1384-67DD-4735-BFEB-3387EC6C6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949" y="681989"/>
            <a:ext cx="753325" cy="758840"/>
          </a:xfrm>
          <a:prstGeom prst="rect">
            <a:avLst/>
          </a:prstGeom>
        </p:spPr>
      </p:pic>
      <p:sp>
        <p:nvSpPr>
          <p:cNvPr id="61" name="직사각형 60">
            <a:extLst>
              <a:ext uri="{FF2B5EF4-FFF2-40B4-BE49-F238E27FC236}">
                <a16:creationId xmlns:a16="http://schemas.microsoft.com/office/drawing/2014/main" id="{319B2814-D97C-4FB7-901D-94CAE94E8651}"/>
              </a:ext>
            </a:extLst>
          </p:cNvPr>
          <p:cNvSpPr/>
          <p:nvPr/>
        </p:nvSpPr>
        <p:spPr>
          <a:xfrm>
            <a:off x="20278" y="4196577"/>
            <a:ext cx="9701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-client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CE58-635F-427C-BAB3-0EAB6AAA8910}"/>
              </a:ext>
            </a:extLst>
          </p:cNvPr>
          <p:cNvSpPr/>
          <p:nvPr/>
        </p:nvSpPr>
        <p:spPr>
          <a:xfrm>
            <a:off x="20278" y="3887109"/>
            <a:ext cx="10326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>
                <a:solidFill>
                  <a:schemeClr val="accent1">
                    <a:lumMod val="50000"/>
                  </a:schemeClr>
                </a:solidFill>
              </a:rPr>
              <a:t>Imap</a:t>
            </a:r>
            <a:r>
              <a:rPr lang="en-US" altLang="ko-KR" sz="1200" dirty="0">
                <a:solidFill>
                  <a:schemeClr val="accent1">
                    <a:lumMod val="50000"/>
                  </a:schemeClr>
                </a:solidFill>
              </a:rPr>
              <a:t>-admin</a:t>
            </a:r>
            <a:endParaRPr lang="ko-KR" alt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F34BF19-5339-423F-836C-135842875E3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223456" y="1048206"/>
            <a:ext cx="1078438" cy="7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D900DA-7280-479E-9D50-7EC7692FE32C}"/>
              </a:ext>
            </a:extLst>
          </p:cNvPr>
          <p:cNvSpPr txBox="1"/>
          <p:nvPr/>
        </p:nvSpPr>
        <p:spPr>
          <a:xfrm>
            <a:off x="2202194" y="35757"/>
            <a:ext cx="28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Windows 2022 Server VM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5C360AD-3405-4494-B327-8B62D6E80C38}"/>
              </a:ext>
            </a:extLst>
          </p:cNvPr>
          <p:cNvSpPr/>
          <p:nvPr/>
        </p:nvSpPr>
        <p:spPr>
          <a:xfrm>
            <a:off x="55447" y="3811516"/>
            <a:ext cx="1736272" cy="29727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3D081-EA23-484E-B1D9-6CC349B09847}"/>
              </a:ext>
            </a:extLst>
          </p:cNvPr>
          <p:cNvSpPr txBox="1"/>
          <p:nvPr/>
        </p:nvSpPr>
        <p:spPr>
          <a:xfrm>
            <a:off x="13276" y="4574675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</a:t>
            </a:r>
            <a:r>
              <a:rPr lang="en-US" altLang="ko-KR" sz="1200" dirty="0"/>
              <a:t>-edge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AA98C-E7EF-4B1F-9636-0E4FB60F1BAE}"/>
              </a:ext>
            </a:extLst>
          </p:cNvPr>
          <p:cNvSpPr txBox="1"/>
          <p:nvPr/>
        </p:nvSpPr>
        <p:spPr>
          <a:xfrm>
            <a:off x="12473" y="4929913"/>
            <a:ext cx="939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Imap-ms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07200-D3E0-49E5-9CE4-F031F1B56FA5}"/>
              </a:ext>
            </a:extLst>
          </p:cNvPr>
          <p:cNvSpPr txBox="1"/>
          <p:nvPr/>
        </p:nvSpPr>
        <p:spPr>
          <a:xfrm>
            <a:off x="205772" y="1635583"/>
            <a:ext cx="14043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10.173.193.80/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C86B0C-F8D1-4717-BC2B-5B3D1B16CF25}"/>
              </a:ext>
            </a:extLst>
          </p:cNvPr>
          <p:cNvSpPr txBox="1"/>
          <p:nvPr/>
        </p:nvSpPr>
        <p:spPr>
          <a:xfrm>
            <a:off x="205772" y="1932311"/>
            <a:ext cx="2018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C00000"/>
                </a:solidFill>
              </a:rPr>
              <a:t>10.173.193.80/</a:t>
            </a:r>
            <a:r>
              <a:rPr lang="en-US" altLang="ko-KR" sz="1000" b="1" dirty="0" err="1">
                <a:solidFill>
                  <a:srgbClr val="C00000"/>
                </a:solidFill>
              </a:rPr>
              <a:t>api</a:t>
            </a:r>
            <a:r>
              <a:rPr lang="en-US" altLang="ko-KR" sz="1000" b="1" dirty="0">
                <a:solidFill>
                  <a:srgbClr val="C00000"/>
                </a:solidFill>
              </a:rPr>
              <a:t>/user/spawn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906AEA6-1594-4DA7-8441-DC268005305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9071" y="2650834"/>
            <a:ext cx="1760958" cy="11288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8830EDA-025A-44AE-A879-D35564E2A52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6785" y="2843593"/>
            <a:ext cx="2028962" cy="999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426F31-0670-4E23-A565-B0E2F784A568}"/>
              </a:ext>
            </a:extLst>
          </p:cNvPr>
          <p:cNvSpPr txBox="1"/>
          <p:nvPr/>
        </p:nvSpPr>
        <p:spPr>
          <a:xfrm>
            <a:off x="16884" y="3463472"/>
            <a:ext cx="7992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P-DEP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45BF51-10F2-4140-86BC-42018639237E}"/>
              </a:ext>
            </a:extLst>
          </p:cNvPr>
          <p:cNvSpPr/>
          <p:nvPr/>
        </p:nvSpPr>
        <p:spPr>
          <a:xfrm>
            <a:off x="2309024" y="405089"/>
            <a:ext cx="717878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b="1" dirty="0"/>
              <a:t>@Bean</a:t>
            </a:r>
          </a:p>
          <a:p>
            <a:r>
              <a:rPr lang="en-US" altLang="ko-KR" sz="900" b="1" dirty="0"/>
              <a:t>public </a:t>
            </a:r>
            <a:r>
              <a:rPr lang="en-US" altLang="ko-KR" sz="900" b="1" dirty="0" err="1"/>
              <a:t>SecurityFilterChain</a:t>
            </a:r>
            <a:r>
              <a:rPr lang="en-US" altLang="ko-KR" sz="900" b="1" dirty="0"/>
              <a:t> </a:t>
            </a:r>
            <a:r>
              <a:rPr lang="en-US" altLang="ko-KR" sz="900" b="1" dirty="0" err="1"/>
              <a:t>filterChain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HttpSecurity</a:t>
            </a:r>
            <a:r>
              <a:rPr lang="en-US" altLang="ko-KR" sz="900" b="1" dirty="0"/>
              <a:t> http) throws Exception {</a:t>
            </a:r>
          </a:p>
          <a:p>
            <a:r>
              <a:rPr lang="en-US" altLang="ko-KR" sz="900" b="1" dirty="0"/>
              <a:t>    http</a:t>
            </a:r>
          </a:p>
          <a:p>
            <a:r>
              <a:rPr lang="en-US" altLang="ko-KR" sz="900" b="1" dirty="0"/>
              <a:t>        // 1. CSRF </a:t>
            </a:r>
            <a:r>
              <a:rPr lang="ko-KR" altLang="en-US" sz="900" b="1" dirty="0"/>
              <a:t>설정 </a:t>
            </a:r>
            <a:r>
              <a:rPr lang="en-US" altLang="ko-KR" sz="900" b="1" dirty="0"/>
              <a:t>(API </a:t>
            </a:r>
            <a:r>
              <a:rPr lang="ko-KR" altLang="en-US" sz="900" b="1" dirty="0"/>
              <a:t>서버이므로 상황에 맞게 </a:t>
            </a:r>
            <a:r>
              <a:rPr lang="en-US" altLang="ko-KR" sz="900" b="1" dirty="0"/>
              <a:t>disable </a:t>
            </a:r>
            <a:r>
              <a:rPr lang="ko-KR" altLang="en-US" sz="900" b="1" dirty="0"/>
              <a:t>처리하거나 토큰 검증</a:t>
            </a:r>
            <a:r>
              <a:rPr lang="en-US" altLang="ko-KR" sz="900" b="1" dirty="0"/>
              <a:t>)</a:t>
            </a:r>
          </a:p>
          <a:p>
            <a:r>
              <a:rPr lang="en-US" altLang="ko-KR" sz="900" b="1" dirty="0"/>
              <a:t>        .</a:t>
            </a:r>
            <a:r>
              <a:rPr lang="en-US" altLang="ko-KR" sz="900" b="1" dirty="0" err="1"/>
              <a:t>csrf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csrf</a:t>
            </a:r>
            <a:r>
              <a:rPr lang="en-US" altLang="ko-KR" sz="900" b="1" dirty="0"/>
              <a:t> -&gt; </a:t>
            </a:r>
            <a:r>
              <a:rPr lang="en-US" altLang="ko-KR" sz="900" b="1" dirty="0" err="1"/>
              <a:t>csrf.disable</a:t>
            </a:r>
            <a:r>
              <a:rPr lang="en-US" altLang="ko-KR" sz="900" b="1" dirty="0"/>
              <a:t>()) </a:t>
            </a:r>
          </a:p>
          <a:p>
            <a:r>
              <a:rPr lang="en-US" altLang="ko-KR" sz="900" b="1" dirty="0"/>
              <a:t>        </a:t>
            </a:r>
          </a:p>
          <a:p>
            <a:r>
              <a:rPr lang="en-US" altLang="ko-KR" sz="900" b="1" dirty="0"/>
              <a:t>        // 2. </a:t>
            </a:r>
            <a:r>
              <a:rPr lang="ko-KR" altLang="en-US" sz="900" b="1" dirty="0" err="1"/>
              <a:t>경로별</a:t>
            </a:r>
            <a:r>
              <a:rPr lang="ko-KR" altLang="en-US" sz="900" b="1" dirty="0"/>
              <a:t> 권한 설정</a:t>
            </a:r>
          </a:p>
          <a:p>
            <a:r>
              <a:rPr lang="ko-KR" altLang="en-US" sz="900" b="1" dirty="0"/>
              <a:t>        </a:t>
            </a:r>
            <a:r>
              <a:rPr lang="en-US" altLang="ko-KR" sz="900" b="1" dirty="0"/>
              <a:t>.</a:t>
            </a:r>
            <a:r>
              <a:rPr lang="en-US" altLang="ko-KR" sz="900" b="1" dirty="0" err="1"/>
              <a:t>authorizeHttpRequests</a:t>
            </a:r>
            <a:r>
              <a:rPr lang="en-US" altLang="ko-KR" sz="900" b="1" dirty="0"/>
              <a:t>(auth -&gt; auth</a:t>
            </a:r>
          </a:p>
          <a:p>
            <a:r>
              <a:rPr lang="en-US" altLang="ko-KR" sz="900" b="1" dirty="0"/>
              <a:t>            .</a:t>
            </a:r>
            <a:r>
              <a:rPr lang="en-US" altLang="ko-KR" sz="900" b="1" dirty="0" err="1"/>
              <a:t>requestMatchers</a:t>
            </a:r>
            <a:r>
              <a:rPr lang="en-US" altLang="ko-KR" sz="900" b="1" dirty="0"/>
              <a:t>("/</a:t>
            </a:r>
            <a:r>
              <a:rPr lang="en-US" altLang="ko-KR" sz="900" b="1" dirty="0" err="1"/>
              <a:t>api</a:t>
            </a:r>
            <a:r>
              <a:rPr lang="en-US" altLang="ko-KR" sz="900" b="1" dirty="0"/>
              <a:t>/auth/check").authenticated() // </a:t>
            </a:r>
            <a:r>
              <a:rPr lang="ko-KR" altLang="en-US" sz="900" b="1" dirty="0"/>
              <a:t>👈 인증 필수 경로 지정</a:t>
            </a:r>
            <a:r>
              <a:rPr lang="en-US" altLang="ko-KR" sz="900" b="1" dirty="0"/>
              <a:t>!</a:t>
            </a:r>
          </a:p>
          <a:p>
            <a:r>
              <a:rPr lang="en-US" altLang="ko-KR" sz="900" b="1" dirty="0"/>
              <a:t>            .</a:t>
            </a:r>
            <a:r>
              <a:rPr lang="en-US" altLang="ko-KR" sz="900" b="1" dirty="0" err="1"/>
              <a:t>anyRequest</a:t>
            </a:r>
            <a:r>
              <a:rPr lang="en-US" altLang="ko-KR" sz="900" b="1" dirty="0"/>
              <a:t>().</a:t>
            </a:r>
            <a:r>
              <a:rPr lang="en-US" altLang="ko-KR" sz="900" b="1" dirty="0" err="1"/>
              <a:t>permitAll</a:t>
            </a:r>
            <a:r>
              <a:rPr lang="en-US" altLang="ko-KR" sz="900" b="1" dirty="0"/>
              <a:t>()</a:t>
            </a:r>
          </a:p>
          <a:p>
            <a:r>
              <a:rPr lang="en-US" altLang="ko-KR" sz="900" b="1" dirty="0"/>
              <a:t>        )</a:t>
            </a:r>
          </a:p>
          <a:p>
            <a:r>
              <a:rPr lang="en-US" altLang="ko-KR" sz="900" b="1" dirty="0"/>
              <a:t>        </a:t>
            </a:r>
          </a:p>
          <a:p>
            <a:r>
              <a:rPr lang="en-US" altLang="ko-KR" sz="900" b="1" dirty="0"/>
              <a:t>        // 3. [</a:t>
            </a:r>
            <a:r>
              <a:rPr lang="ko-KR" altLang="en-US" sz="900" b="1" dirty="0"/>
              <a:t>핵심</a:t>
            </a:r>
            <a:r>
              <a:rPr lang="en-US" altLang="ko-KR" sz="900" b="1" dirty="0"/>
              <a:t>] </a:t>
            </a:r>
            <a:r>
              <a:rPr lang="ko-KR" altLang="en-US" sz="900" b="1" dirty="0"/>
              <a:t>인증 실패 시 </a:t>
            </a:r>
            <a:r>
              <a:rPr lang="en-US" altLang="ko-KR" sz="900" b="1" dirty="0"/>
              <a:t>302 </a:t>
            </a:r>
            <a:r>
              <a:rPr lang="ko-KR" altLang="en-US" sz="900" b="1" dirty="0" err="1"/>
              <a:t>리다이렉트가</a:t>
            </a:r>
            <a:r>
              <a:rPr lang="ko-KR" altLang="en-US" sz="900" b="1" dirty="0"/>
              <a:t> 아닌 </a:t>
            </a:r>
            <a:r>
              <a:rPr lang="en-US" altLang="ko-KR" sz="900" b="1" dirty="0"/>
              <a:t>401 Unauthorized</a:t>
            </a:r>
            <a:r>
              <a:rPr lang="ko-KR" altLang="en-US" sz="900" b="1" dirty="0"/>
              <a:t>를 직접 응답하도록 설정</a:t>
            </a:r>
          </a:p>
          <a:p>
            <a:r>
              <a:rPr lang="ko-KR" altLang="en-US" sz="900" b="1" dirty="0"/>
              <a:t>        </a:t>
            </a:r>
            <a:r>
              <a:rPr lang="en-US" altLang="ko-KR" sz="900" b="1" dirty="0"/>
              <a:t>.</a:t>
            </a:r>
            <a:r>
              <a:rPr lang="en-US" altLang="ko-KR" sz="900" b="1" dirty="0" err="1"/>
              <a:t>exceptionHandling</a:t>
            </a:r>
            <a:r>
              <a:rPr lang="en-US" altLang="ko-KR" sz="900" b="1" dirty="0"/>
              <a:t>(handler -&gt; handler</a:t>
            </a:r>
          </a:p>
          <a:p>
            <a:r>
              <a:rPr lang="en-US" altLang="ko-KR" sz="900" b="1" dirty="0"/>
              <a:t>            .</a:t>
            </a:r>
            <a:r>
              <a:rPr lang="en-US" altLang="ko-KR" sz="900" b="1" dirty="0" err="1"/>
              <a:t>authenticationEntryPoint</a:t>
            </a:r>
            <a:r>
              <a:rPr lang="en-US" altLang="ko-KR" sz="900" b="1" dirty="0"/>
              <a:t>((request, response, </a:t>
            </a:r>
            <a:r>
              <a:rPr lang="en-US" altLang="ko-KR" sz="900" b="1" dirty="0" err="1"/>
              <a:t>authException</a:t>
            </a:r>
            <a:r>
              <a:rPr lang="en-US" altLang="ko-KR" sz="900" b="1" dirty="0"/>
              <a:t>) -&gt; {</a:t>
            </a:r>
          </a:p>
          <a:p>
            <a:r>
              <a:rPr lang="en-US" altLang="ko-KR" sz="900" b="1" dirty="0"/>
              <a:t>                </a:t>
            </a:r>
            <a:r>
              <a:rPr lang="en-US" altLang="ko-KR" sz="900" b="1" dirty="0" err="1"/>
              <a:t>response.sendError</a:t>
            </a:r>
            <a:r>
              <a:rPr lang="en-US" altLang="ko-KR" sz="900" b="1" dirty="0"/>
              <a:t>(</a:t>
            </a:r>
            <a:r>
              <a:rPr lang="en-US" altLang="ko-KR" sz="900" b="1" dirty="0" err="1"/>
              <a:t>HttpServletResponse.SC_UNAUTHORIZED</a:t>
            </a:r>
            <a:r>
              <a:rPr lang="en-US" altLang="ko-KR" sz="900" b="1" dirty="0"/>
              <a:t>, "Unauthorized");</a:t>
            </a:r>
          </a:p>
          <a:p>
            <a:r>
              <a:rPr lang="en-US" altLang="ko-KR" sz="900" b="1" dirty="0"/>
              <a:t>            })</a:t>
            </a:r>
          </a:p>
          <a:p>
            <a:r>
              <a:rPr lang="en-US" altLang="ko-KR" sz="900" b="1" dirty="0"/>
              <a:t>        );</a:t>
            </a:r>
          </a:p>
          <a:p>
            <a:endParaRPr lang="en-US" altLang="ko-KR" sz="900" b="1" dirty="0"/>
          </a:p>
          <a:p>
            <a:r>
              <a:rPr lang="en-US" altLang="ko-KR" sz="900" b="1" dirty="0"/>
              <a:t>    return </a:t>
            </a:r>
            <a:r>
              <a:rPr lang="en-US" altLang="ko-KR" sz="900" b="1" dirty="0" err="1"/>
              <a:t>http.build</a:t>
            </a:r>
            <a:r>
              <a:rPr lang="en-US" altLang="ko-KR" sz="900" b="1" dirty="0"/>
              <a:t>();</a:t>
            </a:r>
          </a:p>
          <a:p>
            <a:r>
              <a:rPr lang="en-US" altLang="ko-KR" sz="900" b="1" dirty="0"/>
              <a:t>}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1471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1273</Words>
  <Application>Microsoft Office PowerPoint</Application>
  <PresentationFormat>와이드스크린</PresentationFormat>
  <Paragraphs>262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 Unicode MS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tech_</dc:creator>
  <cp:lastModifiedBy>tech_</cp:lastModifiedBy>
  <cp:revision>1</cp:revision>
  <dcterms:created xsi:type="dcterms:W3CDTF">2026-07-14T14:29:14Z</dcterms:created>
  <dcterms:modified xsi:type="dcterms:W3CDTF">2026-07-14T14:29:40Z</dcterms:modified>
</cp:coreProperties>
</file>