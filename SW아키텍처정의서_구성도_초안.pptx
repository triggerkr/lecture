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구성도 초안. 실제 시스템명, 연계 방향, 솔루션 제품명은 미제공 항목으로 임시 라벨을 사용했습니다. 확정 정보로 교체 요청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연계 방향(단방향/양방향)은 임시로 클라이언트→핵심시스템은 단방향, EAI 구간은 양방향으로 표기했습니다. 실제 흐름에 맞게 조정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구간 구성(외부→방화벽→DMZ→내부 방화벽→내부망)은 일반적 3-tier 보안 아키텍처 기준 초안. 이중화(HA), 로드밸런서, 별도 관리망(OOB) 등은 미반영.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전형적 다계층(Layered) 구조 초안. 공통 서비스는 전 계층에 걸쳐 적용되는 cross-cutting 관심사로 우측에 별도 배치. 프레임워크는 전자정부/Spring 가정 — 실제 채택 표준으로 교체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요청/응답 파이프라인 초안. 세션/트랜잭션 경계, 로깅 지점 등 세부 어노테이션은 확정 후 보강 가능. 클러스터링/캐시/메시지큐 등은 미반영.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공통 모듈 6종의 메커니즘 요약. SSO 연동 방식(에이전트/게이트웨이/토큰)과 세션 클러스터링 방식은 채택 솔루션에 맞춰 구체화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1732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6FA8DC"/>
          </a:solidFill>
          <a:ln/>
        </p:spPr>
      </p:sp>
      <p:sp>
        <p:nvSpPr>
          <p:cNvPr id="3" name="Shape 1"/>
          <p:cNvSpPr/>
          <p:nvPr/>
        </p:nvSpPr>
        <p:spPr>
          <a:xfrm>
            <a:off x="1225296" y="141732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F6FBF"/>
          </a:solidFill>
          <a:ln/>
        </p:spPr>
      </p:sp>
      <p:sp>
        <p:nvSpPr>
          <p:cNvPr id="4" name="Shape 2"/>
          <p:cNvSpPr/>
          <p:nvPr/>
        </p:nvSpPr>
        <p:spPr>
          <a:xfrm>
            <a:off x="1627632" y="141732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SW 아키텍처 정의서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 시스템 구성도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FC0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 애플리케이션·시스템(네트워크) 구성 · Web SW 기술구조 · 시스템 공통 모듈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212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FA0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작성 초안(Draft) — 세부 시스템 명칭·연계 흐름·솔루션명은 확정 후 반영 예정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2F6F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560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 애플리케이션 구성도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채널(클라이언트) — 핵심 시스템 — EAI 연계 — 대내외 애플리케이션 간 관계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6F4F1"/>
          </a:solidFill>
          <a:ln w="15875">
            <a:solidFill>
              <a:srgbClr val="0E7C86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57784" y="1773936"/>
            <a:ext cx="1856232" cy="978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E5A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이용자 클라이언트</a:t>
            </a:r>
            <a:endParaRPr lang="en-US" sz="1300" dirty="0"/>
          </a:p>
          <a:p>
            <a:pPr algn="ctr" indent="0" marL="0">
              <a:lnSpc>
                <a:spcPct val="103000"/>
              </a:lnSpc>
              <a:spcBef>
                <a:spcPts val="100"/>
              </a:spcBef>
              <a:buNone/>
            </a:pPr>
            <a:r>
              <a:rPr lang="en-US" sz="950" i="1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/ 인터넷 사용자</a:t>
            </a:r>
            <a:endParaRPr lang="en-US" sz="1300" dirty="0"/>
          </a:p>
          <a:p>
            <a:pPr algn="ctr" indent="0" marL="0">
              <a:lnSpc>
                <a:spcPct val="103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1F29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웹 · 모바일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5204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6F4F1"/>
          </a:solidFill>
          <a:ln w="15875">
            <a:solidFill>
              <a:srgbClr val="0E7C86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57784" y="3557016"/>
            <a:ext cx="1856232" cy="978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E5A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 클라이언트</a:t>
            </a:r>
            <a:endParaRPr lang="en-US" sz="1300" dirty="0"/>
          </a:p>
          <a:p>
            <a:pPr algn="ctr" indent="0" marL="0">
              <a:lnSpc>
                <a:spcPct val="103000"/>
              </a:lnSpc>
              <a:spcBef>
                <a:spcPts val="100"/>
              </a:spcBef>
              <a:buNone/>
            </a:pPr>
            <a:r>
              <a:rPr lang="en-US" sz="950" i="1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내부 상담원 · 운영자</a:t>
            </a:r>
            <a:endParaRPr lang="en-US" sz="1300" dirty="0"/>
          </a:p>
          <a:p>
            <a:pPr algn="ctr" indent="0" marL="0">
              <a:lnSpc>
                <a:spcPct val="103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1F29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 PC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3291840" cy="3840480"/>
          </a:xfrm>
          <a:prstGeom prst="roundRect">
            <a:avLst>
              <a:gd name="adj" fmla="val 1667"/>
            </a:avLst>
          </a:prstGeom>
          <a:solidFill>
            <a:srgbClr val="E8EDF9"/>
          </a:solidFill>
          <a:ln w="15875">
            <a:solidFill>
              <a:srgbClr val="2B4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74136" y="1444752"/>
            <a:ext cx="3035808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고객센터 시스템 (핵심)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56432" y="1920240"/>
            <a:ext cx="287121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2B4C8C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11296" y="1956816"/>
            <a:ext cx="2761488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채널 통합 · 웹/WAS 계층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56432" y="2697480"/>
            <a:ext cx="287121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2B4C8C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11296" y="2734056"/>
            <a:ext cx="2761488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상담 · 고객관리 업무 서비스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56432" y="3474720"/>
            <a:ext cx="287121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2B4C8C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11296" y="3511296"/>
            <a:ext cx="2761488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연계 어댑터 (Adapter)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56432" y="4251960"/>
            <a:ext cx="287121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2B4C8C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11296" y="4288536"/>
            <a:ext cx="2761488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공통 모듈 (보안·로깅·세션)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086600" y="17373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BEFD9"/>
          </a:solidFill>
          <a:ln w="15875">
            <a:solidFill>
              <a:srgbClr val="B7791F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41464" y="1773936"/>
            <a:ext cx="1719072" cy="1115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8A5A0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EAI (내부)</a:t>
            </a:r>
            <a:endParaRPr lang="en-US" sz="1300" dirty="0"/>
          </a:p>
          <a:p>
            <a:pPr algn="ctr" indent="0" marL="0">
              <a:lnSpc>
                <a:spcPct val="103000"/>
              </a:lnSpc>
              <a:spcBef>
                <a:spcPts val="100"/>
              </a:spcBef>
              <a:buNone/>
            </a:pPr>
            <a:r>
              <a:rPr lang="en-US" sz="950" i="1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내부 시스템 연계 허브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86600" y="36576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BEFD9"/>
          </a:solidFill>
          <a:ln w="15875">
            <a:solidFill>
              <a:srgbClr val="B7791F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41464" y="3694176"/>
            <a:ext cx="1719072" cy="1115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8A5A0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EAI (외부)</a:t>
            </a:r>
            <a:endParaRPr lang="en-US" sz="1300" dirty="0"/>
          </a:p>
          <a:p>
            <a:pPr algn="ctr" indent="0" marL="0">
              <a:lnSpc>
                <a:spcPct val="103000"/>
              </a:lnSpc>
              <a:spcBef>
                <a:spcPts val="100"/>
              </a:spcBef>
              <a:buNone/>
            </a:pPr>
            <a:r>
              <a:rPr lang="en-US" sz="950" i="1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대외기관 연계 G/W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509760" y="173736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EDF0F4"/>
          </a:solidFill>
          <a:ln w="15875">
            <a:solidFill>
              <a:srgbClr val="5B647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564624" y="1773936"/>
            <a:ext cx="2039112" cy="1115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3B43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기타 애플리케이션 (사내)</a:t>
            </a:r>
            <a:endParaRPr lang="en-US" sz="1200" dirty="0"/>
          </a:p>
          <a:p>
            <a:pPr algn="ctr" indent="0" marL="0">
              <a:lnSpc>
                <a:spcPct val="103000"/>
              </a:lnSpc>
              <a:spcBef>
                <a:spcPts val="100"/>
              </a:spcBef>
              <a:buNone/>
            </a:pPr>
            <a:r>
              <a:rPr lang="en-US" sz="950" i="1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그룹웨어·인사·회계 등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509760" y="365760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EDF0F4"/>
          </a:solidFill>
          <a:ln w="15875">
            <a:solidFill>
              <a:srgbClr val="5B647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564624" y="3694176"/>
            <a:ext cx="2039112" cy="1115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3B43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시스템 / 대외기관</a:t>
            </a:r>
            <a:endParaRPr lang="en-US" sz="1200" dirty="0"/>
          </a:p>
          <a:p>
            <a:pPr algn="ctr" indent="0" marL="0">
              <a:lnSpc>
                <a:spcPct val="103000"/>
              </a:lnSpc>
              <a:spcBef>
                <a:spcPts val="100"/>
              </a:spcBef>
              <a:buNone/>
            </a:pPr>
            <a:r>
              <a:rPr lang="en-US" sz="950" i="1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타사·기관 연계 시스템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468880" y="2263140"/>
            <a:ext cx="777240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2331720" y="1847088"/>
            <a:ext cx="10972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7C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HTTPS · 인터넷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68880" y="4046220"/>
            <a:ext cx="777240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2468880" y="3611880"/>
            <a:ext cx="9144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7C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내부망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537960" y="2331720"/>
            <a:ext cx="548640" cy="0"/>
          </a:xfrm>
          <a:prstGeom prst="line">
            <a:avLst/>
          </a:prstGeom>
          <a:noFill/>
          <a:ln w="22225">
            <a:solidFill>
              <a:srgbClr val="B7791F"/>
            </a:solidFill>
            <a:prstDash val="solid"/>
            <a:headEnd type="triangl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537960" y="4251960"/>
            <a:ext cx="548640" cy="0"/>
          </a:xfrm>
          <a:prstGeom prst="line">
            <a:avLst/>
          </a:prstGeom>
          <a:noFill/>
          <a:ln w="22225">
            <a:solidFill>
              <a:srgbClr val="B7791F"/>
            </a:solidFill>
            <a:prstDash val="solid"/>
            <a:headEnd type="triangl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915400" y="2331720"/>
            <a:ext cx="59436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headEnd type="triangl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915400" y="4251960"/>
            <a:ext cx="59436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headEnd type="triangl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48640" y="598932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36" name="Text 34"/>
          <p:cNvSpPr/>
          <p:nvPr/>
        </p:nvSpPr>
        <p:spPr>
          <a:xfrm>
            <a:off x="804672" y="59344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클라이언트(채널)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08960" y="598932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2B4C8C"/>
          </a:solidFill>
          <a:ln/>
        </p:spPr>
      </p:sp>
      <p:sp>
        <p:nvSpPr>
          <p:cNvPr id="38" name="Text 36"/>
          <p:cNvSpPr/>
          <p:nvPr/>
        </p:nvSpPr>
        <p:spPr>
          <a:xfrm>
            <a:off x="3364992" y="59344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시스템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0" y="598932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B7791F"/>
          </a:solidFill>
          <a:ln/>
        </p:spPr>
      </p:sp>
      <p:sp>
        <p:nvSpPr>
          <p:cNvPr id="40" name="Text 38"/>
          <p:cNvSpPr/>
          <p:nvPr/>
        </p:nvSpPr>
        <p:spPr>
          <a:xfrm>
            <a:off x="5925312" y="59344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EAI 연계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229600" y="598932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5B6472"/>
          </a:solidFill>
          <a:ln/>
        </p:spPr>
      </p:sp>
      <p:sp>
        <p:nvSpPr>
          <p:cNvPr id="42" name="Text 40"/>
          <p:cNvSpPr/>
          <p:nvPr/>
        </p:nvSpPr>
        <p:spPr>
          <a:xfrm>
            <a:off x="8485632" y="59344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대내외 애플리케이션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SW 아키텍처 정의서 · 목표 시스템 구성도 (Draft)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2F6F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560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 시스템 구성도 (네트워크)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방화벽(Firewall) · 스위치를 통과하는 구간별 네트워크 구성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645920" cy="3108960"/>
          </a:xfrm>
          <a:prstGeom prst="roundRect">
            <a:avLst>
              <a:gd name="adj" fmla="val 3333"/>
            </a:avLst>
          </a:prstGeom>
          <a:solidFill>
            <a:srgbClr val="F2F4F7"/>
          </a:solidFill>
          <a:ln w="15875">
            <a:solidFill>
              <a:srgbClr val="5B647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85216" y="1627632"/>
            <a:ext cx="1389888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43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(인터넷)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" y="2148840"/>
            <a:ext cx="1389888" cy="1234440"/>
          </a:xfrm>
          <a:prstGeom prst="roundRect">
            <a:avLst>
              <a:gd name="adj" fmla="val 5926"/>
            </a:avLst>
          </a:prstGeom>
          <a:solidFill>
            <a:srgbClr val="E6F4F1"/>
          </a:solidFill>
          <a:ln w="15875">
            <a:solidFill>
              <a:srgbClr val="0E7C86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185416"/>
            <a:ext cx="1280160" cy="1161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0E5A6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이용자 클라이언트</a:t>
            </a:r>
            <a:endParaRPr lang="en-US" sz="1150" dirty="0"/>
          </a:p>
          <a:p>
            <a:pPr algn="ctr" indent="0" marL="0">
              <a:lnSpc>
                <a:spcPct val="103000"/>
              </a:lnSpc>
              <a:spcBef>
                <a:spcPts val="100"/>
              </a:spcBef>
              <a:buNone/>
            </a:pPr>
            <a:r>
              <a:rPr lang="en-US" sz="950" i="1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웹 · 모바일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85216" y="3611880"/>
            <a:ext cx="13898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Internet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40280" y="2377440"/>
            <a:ext cx="777240" cy="1463040"/>
          </a:xfrm>
          <a:prstGeom prst="roundRect">
            <a:avLst>
              <a:gd name="adj" fmla="val 9412"/>
            </a:avLst>
          </a:prstGeom>
          <a:solidFill>
            <a:srgbClr val="F7E1DE"/>
          </a:solidFill>
          <a:ln w="15875">
            <a:solidFill>
              <a:srgbClr val="B23B3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95144" y="2414016"/>
            <a:ext cx="667512" cy="138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9B2F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방화벽</a:t>
            </a:r>
            <a:endParaRPr lang="en-US" sz="105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9B2F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Firewall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463040"/>
            <a:ext cx="2651760" cy="3566160"/>
          </a:xfrm>
          <a:prstGeom prst="roundRect">
            <a:avLst>
              <a:gd name="adj" fmla="val 2069"/>
            </a:avLst>
          </a:prstGeom>
          <a:solidFill>
            <a:srgbClr val="FBF6EC"/>
          </a:solidFill>
          <a:ln w="15875">
            <a:solidFill>
              <a:srgbClr val="B7791F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374136" y="1536192"/>
            <a:ext cx="2395728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5A0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DMZ 구간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01568" y="1965960"/>
            <a:ext cx="234086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7791F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56432" y="2002536"/>
            <a:ext cx="2231136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L4 / L7 스위치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01568" y="2880360"/>
            <a:ext cx="2340864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B7791F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56432" y="2916936"/>
            <a:ext cx="2231136" cy="8869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웹 서버 (Web Server)</a:t>
            </a:r>
            <a:endParaRPr lang="en-US" sz="1150" dirty="0"/>
          </a:p>
          <a:p>
            <a:pPr algn="ctr" indent="0" marL="0">
              <a:lnSpc>
                <a:spcPct val="103000"/>
              </a:lnSpc>
              <a:spcBef>
                <a:spcPts val="100"/>
              </a:spcBef>
              <a:buNone/>
            </a:pPr>
            <a:r>
              <a:rPr lang="en-US" sz="950" i="1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정적 콘텐츠 · 리버스 프록시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01568" y="4023360"/>
            <a:ext cx="2340864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B7791F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56432" y="4059936"/>
            <a:ext cx="2231136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웹 방화벽(WAF) · 접근제어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2377440"/>
            <a:ext cx="777240" cy="1463040"/>
          </a:xfrm>
          <a:prstGeom prst="roundRect">
            <a:avLst>
              <a:gd name="adj" fmla="val 9412"/>
            </a:avLst>
          </a:prstGeom>
          <a:solidFill>
            <a:srgbClr val="F7E1DE"/>
          </a:solidFill>
          <a:ln w="15875">
            <a:solidFill>
              <a:srgbClr val="B23B3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35624" y="2414016"/>
            <a:ext cx="667512" cy="138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9B2F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방화벽</a:t>
            </a:r>
            <a:endParaRPr lang="en-US" sz="105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9B2F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(내부)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86600" y="1280160"/>
            <a:ext cx="4617720" cy="4114800"/>
          </a:xfrm>
          <a:prstGeom prst="roundRect">
            <a:avLst>
              <a:gd name="adj" fmla="val 1333"/>
            </a:avLst>
          </a:prstGeom>
          <a:solidFill>
            <a:srgbClr val="EEF3FA"/>
          </a:solidFill>
          <a:ln w="15875">
            <a:solidFill>
              <a:srgbClr val="2B4C8C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7214616" y="1353312"/>
            <a:ext cx="4361688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내부 업무망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69480" y="1828800"/>
            <a:ext cx="4251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2B4C8C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24344" y="1865376"/>
            <a:ext cx="4142232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L2 / L3 백본 스위치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269480" y="2743200"/>
            <a:ext cx="1325880" cy="1371600"/>
          </a:xfrm>
          <a:prstGeom prst="roundRect">
            <a:avLst>
              <a:gd name="adj" fmla="val 5517"/>
            </a:avLst>
          </a:prstGeom>
          <a:solidFill>
            <a:srgbClr val="E8EDF9"/>
          </a:solidFill>
          <a:ln w="15875">
            <a:solidFill>
              <a:srgbClr val="2B4C8C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24344" y="2779776"/>
            <a:ext cx="1216152" cy="1298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 서버</a:t>
            </a:r>
            <a:endParaRPr lang="en-US" sz="1150" dirty="0"/>
          </a:p>
          <a:p>
            <a:pPr algn="ctr" indent="0" marL="0">
              <a:lnSpc>
                <a:spcPct val="103000"/>
              </a:lnSpc>
              <a:spcBef>
                <a:spcPts val="100"/>
              </a:spcBef>
              <a:buNone/>
            </a:pPr>
            <a:r>
              <a:rPr lang="en-US" sz="950" i="1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애플리케이션 서버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778240" y="2743200"/>
            <a:ext cx="1325880" cy="1371600"/>
          </a:xfrm>
          <a:prstGeom prst="roundRect">
            <a:avLst>
              <a:gd name="adj" fmla="val 5517"/>
            </a:avLst>
          </a:prstGeom>
          <a:solidFill>
            <a:srgbClr val="E8EDF9"/>
          </a:solidFill>
          <a:ln w="15875">
            <a:solidFill>
              <a:srgbClr val="2B4C8C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833104" y="2779776"/>
            <a:ext cx="1216152" cy="1298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 서버</a:t>
            </a:r>
            <a:endParaRPr lang="en-US" sz="1150" dirty="0"/>
          </a:p>
          <a:p>
            <a:pPr algn="ctr" indent="0" marL="0">
              <a:lnSpc>
                <a:spcPct val="103000"/>
              </a:lnSpc>
              <a:spcBef>
                <a:spcPts val="100"/>
              </a:spcBef>
              <a:buNone/>
            </a:pPr>
            <a:r>
              <a:rPr lang="en-US" sz="950" i="1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데이터베이스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287000" y="2743200"/>
            <a:ext cx="1325880" cy="1371600"/>
          </a:xfrm>
          <a:prstGeom prst="roundRect">
            <a:avLst>
              <a:gd name="adj" fmla="val 5517"/>
            </a:avLst>
          </a:prstGeom>
          <a:solidFill>
            <a:srgbClr val="E8EDF9"/>
          </a:solidFill>
          <a:ln w="15875">
            <a:solidFill>
              <a:srgbClr val="2B4C8C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341864" y="2779776"/>
            <a:ext cx="1216152" cy="1298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EAI 서버</a:t>
            </a:r>
            <a:endParaRPr lang="en-US" sz="1150" dirty="0"/>
          </a:p>
          <a:p>
            <a:pPr algn="ctr" indent="0" marL="0">
              <a:lnSpc>
                <a:spcPct val="103000"/>
              </a:lnSpc>
              <a:spcBef>
                <a:spcPts val="100"/>
              </a:spcBef>
              <a:buNone/>
            </a:pPr>
            <a:r>
              <a:rPr lang="en-US" sz="950" i="1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내부·외부 연계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269480" y="4389120"/>
            <a:ext cx="4251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2B4C8C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324344" y="4425696"/>
            <a:ext cx="4142232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 클라이언트 (내부 상담원 PC)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975104" y="3108960"/>
            <a:ext cx="265176" cy="0"/>
          </a:xfrm>
          <a:prstGeom prst="line">
            <a:avLst/>
          </a:prstGeom>
          <a:noFill/>
          <a:ln w="22225">
            <a:solidFill>
              <a:srgbClr val="B23B32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017520" y="3108960"/>
            <a:ext cx="228600" cy="0"/>
          </a:xfrm>
          <a:prstGeom prst="line">
            <a:avLst/>
          </a:prstGeom>
          <a:noFill/>
          <a:ln w="22225">
            <a:solidFill>
              <a:srgbClr val="B23B32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897880" y="3108960"/>
            <a:ext cx="182880" cy="0"/>
          </a:xfrm>
          <a:prstGeom prst="line">
            <a:avLst/>
          </a:prstGeom>
          <a:noFill/>
          <a:ln w="22225">
            <a:solidFill>
              <a:srgbClr val="B23B32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858000" y="3108960"/>
            <a:ext cx="228600" cy="0"/>
          </a:xfrm>
          <a:prstGeom prst="line">
            <a:avLst/>
          </a:prstGeom>
          <a:noFill/>
          <a:ln w="22225">
            <a:solidFill>
              <a:srgbClr val="B23B32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1965960" y="2724912"/>
            <a:ext cx="11887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23B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HTTPS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932420" y="2487168"/>
            <a:ext cx="0" cy="256032"/>
          </a:xfrm>
          <a:prstGeom prst="line">
            <a:avLst/>
          </a:prstGeom>
          <a:noFill/>
          <a:ln w="22225">
            <a:solidFill>
              <a:srgbClr val="2B4C8C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441180" y="2487168"/>
            <a:ext cx="0" cy="256032"/>
          </a:xfrm>
          <a:prstGeom prst="line">
            <a:avLst/>
          </a:prstGeom>
          <a:noFill/>
          <a:ln w="22225">
            <a:solidFill>
              <a:srgbClr val="2B4C8C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949940" y="2487168"/>
            <a:ext cx="0" cy="256032"/>
          </a:xfrm>
          <a:prstGeom prst="line">
            <a:avLst/>
          </a:prstGeom>
          <a:noFill/>
          <a:ln w="22225">
            <a:solidFill>
              <a:srgbClr val="2B4C8C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686800" y="2487168"/>
            <a:ext cx="0" cy="1901952"/>
          </a:xfrm>
          <a:prstGeom prst="line">
            <a:avLst/>
          </a:prstGeom>
          <a:noFill/>
          <a:ln w="22225">
            <a:solidFill>
              <a:srgbClr val="2B4C8C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8686800" y="2487168"/>
            <a:ext cx="0" cy="1901952"/>
          </a:xfrm>
          <a:prstGeom prst="line">
            <a:avLst/>
          </a:prstGeom>
          <a:noFill/>
          <a:ln w="22225">
            <a:solidFill>
              <a:srgbClr val="2B4C8C"/>
            </a:solidFill>
            <a:prstDash val="solid"/>
            <a:headEnd type="triangl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548640" y="598932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B23B32"/>
          </a:solidFill>
          <a:ln/>
        </p:spPr>
      </p:sp>
      <p:sp>
        <p:nvSpPr>
          <p:cNvPr id="45" name="Text 43"/>
          <p:cNvSpPr/>
          <p:nvPr/>
        </p:nvSpPr>
        <p:spPr>
          <a:xfrm>
            <a:off x="804672" y="59344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방화벽 / 보안 구간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91840" y="598932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B7791F"/>
          </a:solidFill>
          <a:ln/>
        </p:spPr>
      </p:sp>
      <p:sp>
        <p:nvSpPr>
          <p:cNvPr id="47" name="Text 45"/>
          <p:cNvSpPr/>
          <p:nvPr/>
        </p:nvSpPr>
        <p:spPr>
          <a:xfrm>
            <a:off x="3547872" y="59344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DMZ 구간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669280" y="598932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2B4C8C"/>
          </a:solidFill>
          <a:ln/>
        </p:spPr>
      </p:sp>
      <p:sp>
        <p:nvSpPr>
          <p:cNvPr id="49" name="Text 47"/>
          <p:cNvSpPr/>
          <p:nvPr/>
        </p:nvSpPr>
        <p:spPr>
          <a:xfrm>
            <a:off x="5925312" y="59344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내부 업무망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SW 아키텍처 정의서 · 목표 시스템 구성도 (Draft)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2F6F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560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Web SW 기술구조도 — 계층 · 모듈 구조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상위 → 하위 계층으로 요청 전달, 하위 → 상위로 응답 반환 (Layered Architecture)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549640" cy="841248"/>
          </a:xfrm>
          <a:prstGeom prst="roundRect">
            <a:avLst>
              <a:gd name="adj" fmla="val 6522"/>
            </a:avLst>
          </a:prstGeom>
          <a:solidFill>
            <a:srgbClr val="EDE9F7"/>
          </a:solidFill>
          <a:ln w="15875">
            <a:solidFill>
              <a:srgbClr val="6D4AA0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2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325880"/>
            <a:ext cx="8092440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2F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표현 계층 (Presentation)    </a:t>
            </a:r>
            <a:pPr algn="l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화면(HTML/JSP) · UI 컴포넌트 · Controller / Dispatcher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8549640" cy="841248"/>
          </a:xfrm>
          <a:prstGeom prst="roundRect">
            <a:avLst>
              <a:gd name="adj" fmla="val 6522"/>
            </a:avLst>
          </a:prstGeom>
          <a:solidFill>
            <a:srgbClr val="E8EDF9"/>
          </a:solidFill>
          <a:ln w="15875">
            <a:solidFill>
              <a:srgbClr val="2B4C8C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2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258568"/>
            <a:ext cx="8092440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 계층 (Business)    </a:t>
            </a:r>
            <a:pPr algn="l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 서비스 · 비즈니스 로직 · 워크플로우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191256"/>
            <a:ext cx="8549640" cy="841248"/>
          </a:xfrm>
          <a:prstGeom prst="roundRect">
            <a:avLst>
              <a:gd name="adj" fmla="val 6522"/>
            </a:avLst>
          </a:prstGeom>
          <a:solidFill>
            <a:srgbClr val="E7F1EA"/>
          </a:solidFill>
          <a:ln w="15875">
            <a:solidFill>
              <a:srgbClr val="3B7A45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2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191256"/>
            <a:ext cx="8092440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영속 계층 (Persistence)    </a:t>
            </a:r>
            <a:pPr algn="l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DAO · ORM(MyBatis) · 커넥션 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123944"/>
            <a:ext cx="8549640" cy="841248"/>
          </a:xfrm>
          <a:prstGeom prst="roundRect">
            <a:avLst>
              <a:gd name="adj" fmla="val 6522"/>
            </a:avLst>
          </a:prstGeom>
          <a:solidFill>
            <a:srgbClr val="FBEFD9"/>
          </a:solidFill>
          <a:ln w="15875">
            <a:solidFill>
              <a:srgbClr val="B7791F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2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4123944"/>
            <a:ext cx="8092440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A5A0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공통 · 프레임워크 계층 (Framework)    </a:t>
            </a:r>
            <a:pPr algn="l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표준 프레임워크(전자정부/Spring) · 공통 컴포넌트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056632"/>
            <a:ext cx="8549640" cy="960120"/>
          </a:xfrm>
          <a:prstGeom prst="roundRect">
            <a:avLst>
              <a:gd name="adj" fmla="val 5714"/>
            </a:avLst>
          </a:prstGeom>
          <a:solidFill>
            <a:srgbClr val="EDEFF2"/>
          </a:solidFill>
          <a:ln w="15875">
            <a:solidFill>
              <a:srgbClr val="5B6472"/>
            </a:solidFill>
            <a:prstDash val="solid"/>
          </a:ln>
          <a:effectLst>
            <a:outerShdw sx="100000" sy="100000" kx="0" ky="0" algn="bl" rotWithShape="0" blurRad="50800" dist="19050" dir="5400000">
              <a:srgbClr val="9AA6B2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056632"/>
            <a:ext cx="80924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B43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인프라 계층 (Infrastructure)    </a:t>
            </a:r>
            <a:pPr algn="l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Web Server · WAS · DBMS · OS · Hardware / Network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281160" y="1325880"/>
            <a:ext cx="2423160" cy="4690872"/>
          </a:xfrm>
          <a:prstGeom prst="roundRect">
            <a:avLst>
              <a:gd name="adj" fmla="val 22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6B748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445752" y="1508760"/>
            <a:ext cx="2093976" cy="4325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공통 서비스</a:t>
            </a:r>
            <a:endParaRPr lang="en-US" sz="14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000" i="1" dirty="0">
                <a:solidFill>
                  <a:srgbClr val="CADC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(Cross-cutting)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인증 / SSO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권한관리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세션관리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통합로깅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예외처리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트랜잭션 처리</a:t>
            </a:r>
            <a:endParaRPr lang="en-US" sz="14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8FA0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상세: 시스템 공통 모듈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SW 아키텍처 정의서 · 목표 시스템 구성도 (Draft)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2F6F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560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Web SW 기술구조도 — 런타임 구성도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요청 처리 흐름(Runtime Flow)과 요청 전반에 적용되는 공통 처리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96696" y="210312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E6F4F1"/>
          </a:solidFill>
          <a:ln w="15875">
            <a:solidFill>
              <a:srgbClr val="0E7C86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139696"/>
            <a:ext cx="1673352" cy="1298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클라이언트</a:t>
            </a:r>
            <a:endParaRPr lang="en-US" sz="1250" dirty="0"/>
          </a:p>
          <a:p>
            <a:pPr algn="ctr" indent="0" marL="0">
              <a:lnSpc>
                <a:spcPct val="103000"/>
              </a:lnSpc>
              <a:spcBef>
                <a:spcPts val="100"/>
              </a:spcBef>
              <a:buNone/>
            </a:pPr>
            <a:r>
              <a:rPr lang="en-US" sz="900" i="1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브라우저 · 모바일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099816" y="210312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EDF0F4"/>
          </a:solidFill>
          <a:ln w="15875">
            <a:solidFill>
              <a:srgbClr val="5B647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54680" y="2139696"/>
            <a:ext cx="1673352" cy="1298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웹 서버</a:t>
            </a:r>
            <a:endParaRPr lang="en-US" sz="1250" dirty="0"/>
          </a:p>
          <a:p>
            <a:pPr algn="ctr" indent="0" marL="0">
              <a:lnSpc>
                <a:spcPct val="103000"/>
              </a:lnSpc>
              <a:spcBef>
                <a:spcPts val="100"/>
              </a:spcBef>
              <a:buNone/>
            </a:pPr>
            <a:r>
              <a:rPr lang="en-US" sz="900" i="1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정적 · 리버스 프록시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202936" y="210312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E8EDF9"/>
          </a:solidFill>
          <a:ln w="15875">
            <a:solidFill>
              <a:srgbClr val="2B4C8C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57800" y="2139696"/>
            <a:ext cx="1673352" cy="1298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 · 프레임워크</a:t>
            </a:r>
            <a:endParaRPr lang="en-US" sz="1250" dirty="0"/>
          </a:p>
          <a:p>
            <a:pPr algn="ctr" indent="0" marL="0">
              <a:lnSpc>
                <a:spcPct val="103000"/>
              </a:lnSpc>
              <a:spcBef>
                <a:spcPts val="100"/>
              </a:spcBef>
              <a:buNone/>
            </a:pPr>
            <a:r>
              <a:rPr lang="en-US" sz="900" i="1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디스패처 / 라우팅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06056" y="210312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BEFD9"/>
          </a:solidFill>
          <a:ln w="15875">
            <a:solidFill>
              <a:srgbClr val="B7791F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60920" y="2139696"/>
            <a:ext cx="1673352" cy="1298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 처리</a:t>
            </a:r>
            <a:endParaRPr lang="en-US" sz="1250" dirty="0"/>
          </a:p>
          <a:p>
            <a:pPr algn="ctr" indent="0" marL="0">
              <a:lnSpc>
                <a:spcPct val="103000"/>
              </a:lnSpc>
              <a:spcBef>
                <a:spcPts val="100"/>
              </a:spcBef>
              <a:buNone/>
            </a:pPr>
            <a:r>
              <a:rPr lang="en-US" sz="900" i="1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Controller→Service→DAO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09176" y="210312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E8EDF9"/>
          </a:solidFill>
          <a:ln w="15875">
            <a:solidFill>
              <a:srgbClr val="2B4C8C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64040" y="2139696"/>
            <a:ext cx="1673352" cy="1298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DBMS</a:t>
            </a:r>
            <a:endParaRPr lang="en-US" sz="1250" dirty="0"/>
          </a:p>
          <a:p>
            <a:pPr algn="ctr" indent="0" marL="0">
              <a:lnSpc>
                <a:spcPct val="103000"/>
              </a:lnSpc>
              <a:spcBef>
                <a:spcPts val="100"/>
              </a:spcBef>
              <a:buNone/>
            </a:pPr>
            <a:r>
              <a:rPr lang="en-US" sz="900" i="1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저장소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79776" y="2514600"/>
            <a:ext cx="320040" cy="0"/>
          </a:xfrm>
          <a:prstGeom prst="line">
            <a:avLst/>
          </a:prstGeom>
          <a:noFill/>
          <a:ln w="22225">
            <a:solidFill>
              <a:srgbClr val="2B4C8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779776" y="3246120"/>
            <a:ext cx="320040" cy="0"/>
          </a:xfrm>
          <a:prstGeom prst="line">
            <a:avLst/>
          </a:prstGeom>
          <a:noFill/>
          <a:ln w="22225">
            <a:solidFill>
              <a:srgbClr val="8A97A6"/>
            </a:solidFill>
            <a:prstDash val="dash"/>
            <a:headEnd type="triangl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882896" y="2514600"/>
            <a:ext cx="320040" cy="0"/>
          </a:xfrm>
          <a:prstGeom prst="line">
            <a:avLst/>
          </a:prstGeom>
          <a:noFill/>
          <a:ln w="22225">
            <a:solidFill>
              <a:srgbClr val="2B4C8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882896" y="3246120"/>
            <a:ext cx="320040" cy="0"/>
          </a:xfrm>
          <a:prstGeom prst="line">
            <a:avLst/>
          </a:prstGeom>
          <a:noFill/>
          <a:ln w="22225">
            <a:solidFill>
              <a:srgbClr val="8A97A6"/>
            </a:solidFill>
            <a:prstDash val="dash"/>
            <a:headEnd type="triangl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6986016" y="2514600"/>
            <a:ext cx="320040" cy="0"/>
          </a:xfrm>
          <a:prstGeom prst="line">
            <a:avLst/>
          </a:prstGeom>
          <a:noFill/>
          <a:ln w="22225">
            <a:solidFill>
              <a:srgbClr val="2B4C8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86016" y="3246120"/>
            <a:ext cx="320040" cy="0"/>
          </a:xfrm>
          <a:prstGeom prst="line">
            <a:avLst/>
          </a:prstGeom>
          <a:noFill/>
          <a:ln w="22225">
            <a:solidFill>
              <a:srgbClr val="8A97A6"/>
            </a:solidFill>
            <a:prstDash val="dash"/>
            <a:headEnd type="triangl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089136" y="2514600"/>
            <a:ext cx="320040" cy="0"/>
          </a:xfrm>
          <a:prstGeom prst="line">
            <a:avLst/>
          </a:prstGeom>
          <a:noFill/>
          <a:ln w="22225">
            <a:solidFill>
              <a:srgbClr val="2B4C8C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89136" y="3246120"/>
            <a:ext cx="320040" cy="0"/>
          </a:xfrm>
          <a:prstGeom prst="line">
            <a:avLst/>
          </a:prstGeom>
          <a:noFill/>
          <a:ln w="22225">
            <a:solidFill>
              <a:srgbClr val="8A97A6"/>
            </a:solidFill>
            <a:prstDash val="dash"/>
            <a:headEnd type="triangl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2779776" y="1810512"/>
            <a:ext cx="155448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4C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요청 (Request) ▶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79776" y="3547872"/>
            <a:ext cx="155448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7A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◀ 응답 (Response)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96696" y="4434840"/>
            <a:ext cx="10195560" cy="109728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6B748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225296" y="4544568"/>
            <a:ext cx="9738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런타임 공통 처리  </a:t>
            </a:r>
            <a:pPr algn="l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(모든 요청에 공통 적용)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25296" y="4965192"/>
            <a:ext cx="9738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인증 / SSO   ·   세션관리   ·   트랜잭션(AOP)   ·   통합로깅   ·   예외처리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888236" y="3474720"/>
            <a:ext cx="0" cy="960120"/>
          </a:xfrm>
          <a:prstGeom prst="line">
            <a:avLst/>
          </a:prstGeom>
          <a:noFill/>
          <a:ln w="12700">
            <a:solidFill>
              <a:srgbClr val="C3CAD3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3991356" y="3474720"/>
            <a:ext cx="0" cy="960120"/>
          </a:xfrm>
          <a:prstGeom prst="line">
            <a:avLst/>
          </a:prstGeom>
          <a:noFill/>
          <a:ln w="12700">
            <a:solidFill>
              <a:srgbClr val="C3CAD3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094476" y="3474720"/>
            <a:ext cx="0" cy="960120"/>
          </a:xfrm>
          <a:prstGeom prst="line">
            <a:avLst/>
          </a:prstGeom>
          <a:noFill/>
          <a:ln w="12700">
            <a:solidFill>
              <a:srgbClr val="C3CAD3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8197596" y="3474720"/>
            <a:ext cx="0" cy="960120"/>
          </a:xfrm>
          <a:prstGeom prst="line">
            <a:avLst/>
          </a:prstGeom>
          <a:noFill/>
          <a:ln w="12700">
            <a:solidFill>
              <a:srgbClr val="C3CAD3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10300716" y="3474720"/>
            <a:ext cx="0" cy="960120"/>
          </a:xfrm>
          <a:prstGeom prst="line">
            <a:avLst/>
          </a:prstGeom>
          <a:noFill/>
          <a:ln w="12700">
            <a:solidFill>
              <a:srgbClr val="C3CAD3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SW 아키텍처 정의서 · 목표 시스템 구성도 (Draft)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2F6F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560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Web SW 기술구조 — 시스템 공통 모듈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 업무에 걸쳐 프레임워크 공통 계층에서 cross-cutting 방식으로 적용되는 모듈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93776" y="14173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AFBFC"/>
          </a:solidFill>
          <a:ln w="15875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16184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B23B32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43584" y="1600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예외처리</a:t>
            </a:r>
            <a:endParaRPr lang="en-US" sz="1500" dirty="0"/>
          </a:p>
          <a:p>
            <a:pPr algn="l" indent="0" marL="0">
              <a:buNone/>
            </a:pPr>
            <a:r>
              <a:rPr lang="en-US" sz="950" i="1" dirty="0">
                <a:solidFill>
                  <a:srgbClr val="B23B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Exception Handling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4944" y="2258568"/>
            <a:ext cx="3118104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AOP 기반 전역 예외 처리, 표준 에러코드·메시지 매핑, 장애 응답 표준화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34256" y="14173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AFBFC"/>
          </a:solidFill>
          <a:ln w="15875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17136" y="16184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4517136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84064" y="1600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권한관리</a:t>
            </a:r>
            <a:endParaRPr lang="en-US" sz="1500" dirty="0"/>
          </a:p>
          <a:p>
            <a:pPr algn="l" indent="0" marL="0">
              <a:buNone/>
            </a:pPr>
            <a:r>
              <a:rPr lang="en-US" sz="950" i="1" dirty="0">
                <a:solidFill>
                  <a:srgbClr val="0E7C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Authorization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35424" y="2258568"/>
            <a:ext cx="3118104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역할기반 접근제어(RBAC), 메뉴·기능·데이터 권한, 정책 중앙 관리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74736" y="14173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AFBFC"/>
          </a:solidFill>
          <a:ln w="15875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57616" y="16184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6FBF"/>
          </a:solidFill>
          <a:ln/>
        </p:spPr>
      </p:sp>
      <p:sp>
        <p:nvSpPr>
          <p:cNvPr id="17" name="Text 15"/>
          <p:cNvSpPr/>
          <p:nvPr/>
        </p:nvSpPr>
        <p:spPr>
          <a:xfrm>
            <a:off x="8357616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24544" y="1600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세션관리</a:t>
            </a:r>
            <a:endParaRPr lang="en-US" sz="1500" dirty="0"/>
          </a:p>
          <a:p>
            <a:pPr algn="l" indent="0" marL="0">
              <a:buNone/>
            </a:pPr>
            <a:r>
              <a:rPr lang="en-US" sz="950" i="1" dirty="0">
                <a:solidFill>
                  <a:srgbClr val="2F6FB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75904" y="2258568"/>
            <a:ext cx="3118104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분산 세션 클러스터링, 타임아웃·중복 로그인 제어, 세션 저장소 연동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776" y="3401568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AFBFC"/>
          </a:solidFill>
          <a:ln w="15875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" y="360273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B7791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43584" y="358444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통합로깅</a:t>
            </a:r>
            <a:endParaRPr lang="en-US" sz="1500" dirty="0"/>
          </a:p>
          <a:p>
            <a:pPr algn="l" indent="0" marL="0">
              <a:buNone/>
            </a:pPr>
            <a:r>
              <a:rPr lang="en-US" sz="950" i="1" dirty="0">
                <a:solidFill>
                  <a:srgbClr val="B779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Integrated Logging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4944" y="4242816"/>
            <a:ext cx="3118104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요청·업무·감사 로그 통합, 추적 ID(Trace) 전파, 로그 수집·분석 연계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34256" y="3401568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AFBFC"/>
          </a:solidFill>
          <a:ln w="15875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17136" y="360273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D4AA0"/>
          </a:solidFill>
          <a:ln/>
        </p:spPr>
      </p:sp>
      <p:sp>
        <p:nvSpPr>
          <p:cNvPr id="27" name="Text 25"/>
          <p:cNvSpPr/>
          <p:nvPr/>
        </p:nvSpPr>
        <p:spPr>
          <a:xfrm>
            <a:off x="4517136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84064" y="358444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트랜잭션 처리</a:t>
            </a:r>
            <a:endParaRPr lang="en-US" sz="1500" dirty="0"/>
          </a:p>
          <a:p>
            <a:pPr algn="l" indent="0" marL="0">
              <a:buNone/>
            </a:pPr>
            <a:r>
              <a:rPr lang="en-US" sz="950" i="1" dirty="0">
                <a:solidFill>
                  <a:srgbClr val="6D4AA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Transaction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35424" y="4242816"/>
            <a:ext cx="3118104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선언적 트랜잭션(AOP), 전파·격리 수준 정책, 예외 시 롤백 보장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74736" y="3401568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AFBFC"/>
          </a:solidFill>
          <a:ln w="15875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2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57616" y="360273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/>
        </p:spPr>
      </p:sp>
      <p:sp>
        <p:nvSpPr>
          <p:cNvPr id="32" name="Text 30"/>
          <p:cNvSpPr/>
          <p:nvPr/>
        </p:nvSpPr>
        <p:spPr>
          <a:xfrm>
            <a:off x="8357616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924544" y="358444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SSO 모듈</a:t>
            </a:r>
            <a:endParaRPr lang="en-US" sz="1500" dirty="0"/>
          </a:p>
          <a:p>
            <a:pPr algn="l" indent="0" marL="0">
              <a:buNone/>
            </a:pPr>
            <a:r>
              <a:rPr lang="en-US" sz="950" i="1" dirty="0">
                <a:solidFill>
                  <a:srgbClr val="2C5F2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Single Sign-On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75904" y="4242816"/>
            <a:ext cx="3118104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인증·토큰 발급, 인증 에이전트/게이트웨이 연동, 시스템 간 인증 전파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3776" y="562356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각 공통 모듈은 프레임워크 공통 계층에 배치되어 표현·업무·영속 전 계층에 걸쳐 공통 적용됩니다.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SW 아키텍처 정의서 · 목표 시스템 구성도 (Draft)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2026-08-11T14:57:53Z</dcterms:created>
  <dcterms:modified xsi:type="dcterms:W3CDTF">2026-08-11T14:57:53Z</dcterms:modified>
</cp:coreProperties>
</file>