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CD9DE"/>
                </a:solidFill>
                <a:latin typeface="Malgun Gothic"/>
              </a:rPr>
              <a:t>IMAP 플랫폼 · 개발서버 전체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Malgun Gothic"/>
              </a:rPr>
              <a:t>Nginx 단일 진입점 + 멀티 SPA + MSA 백엔드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C8D2E8"/>
                </a:solidFill>
                <a:latin typeface="Malgun Gothic"/>
              </a:rPr>
              <a:t>기본 도메인 접속 → /client 리다이렉트 → SSO 로그인 → imap-client 렌더링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C8D2E8"/>
                </a:solidFill>
                <a:latin typeface="Malgun Gothic"/>
              </a:rPr>
              <a:t>GNB 버튼으로 imap-admin 전환 시 sessionStorage를 통한 1회성 토큰 핸드오프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6177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2A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950" b="1">
                <a:solidFill>
                  <a:srgbClr val="C8D2E8"/>
                </a:solidFill>
                <a:latin typeface="Malgun Gothic"/>
              </a:rPr>
              <a:t>Nginx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12848" y="46177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2A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950" b="1">
                <a:solidFill>
                  <a:srgbClr val="C8D2E8"/>
                </a:solidFill>
                <a:latin typeface="Malgun Gothic"/>
              </a:rPr>
              <a:t>imap-client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2736" y="46177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2A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950" b="1">
                <a:solidFill>
                  <a:srgbClr val="C8D2E8"/>
                </a:solidFill>
                <a:latin typeface="Malgun Gothic"/>
              </a:rPr>
              <a:t>imap-admin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92624" y="46177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2A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950" b="1">
                <a:solidFill>
                  <a:srgbClr val="C8D2E8"/>
                </a:solidFill>
                <a:latin typeface="Malgun Gothic"/>
              </a:rPr>
              <a:t>imap-edge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82512" y="46177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2A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950" b="1">
                <a:solidFill>
                  <a:srgbClr val="C8D2E8"/>
                </a:solidFill>
                <a:latin typeface="Malgun Gothic"/>
              </a:rPr>
              <a:t>imap-scheduler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46177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2A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950" b="1">
                <a:solidFill>
                  <a:srgbClr val="C8D2E8"/>
                </a:solidFill>
                <a:latin typeface="Malgun Gothic"/>
              </a:rPr>
              <a:t>imap-orchestrator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62288" y="46177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2A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950" b="1">
                <a:solidFill>
                  <a:srgbClr val="C8D2E8"/>
                </a:solidFill>
                <a:latin typeface="Malgun Gothic"/>
              </a:rPr>
              <a:t>imap-manager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52176" y="4617720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2A3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800" rIns="50800" tIns="0" bIns="0"/>
          <a:lstStyle/>
          <a:p>
            <a:pPr algn="ctr"/>
            <a:r>
              <a:rPr sz="950" b="1">
                <a:solidFill>
                  <a:srgbClr val="C8D2E8"/>
                </a:solidFill>
                <a:latin typeface="Malgun Gothic"/>
              </a:rPr>
              <a:t>imap-worker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309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9CC2"/>
                </a:solidFill>
                <a:latin typeface="Malgun Gothic"/>
              </a:rPr>
              <a:t>standardSpring3_0807 · 설계 설명 · 2026-08-07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Malgun Gothic"/>
              </a:rP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A4A"/>
                </a:solidFill>
                <a:latin typeface="Malgun Gothic"/>
              </a:rPr>
              <a:t>전체 시스템 구성 요소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2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Malgun Gothic"/>
              </a:rPr>
              <a:t>프론트엔드 (Nginx 뒤, 브라우저에 서빙)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imap-client  (Vue3)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사용자 화면 · 기본 도메인 진입점</a:t>
            </a:r>
            <a:br/>
            <a:r>
              <a:rPr sz="1050" b="0">
                <a:solidFill>
                  <a:srgbClr val="FFFFFF"/>
                </a:solidFill>
                <a:latin typeface="Malgun Gothic"/>
              </a:rPr>
              <a:t>(/client)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783080"/>
            <a:ext cx="3246120" cy="105156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imap-admin  (Vue3)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관리자 화면</a:t>
            </a:r>
            <a:br/>
            <a:r>
              <a:rPr sz="1050" b="0">
                <a:solidFill>
                  <a:srgbClr val="FFFFFF"/>
                </a:solidFill>
                <a:latin typeface="Malgun Gothic"/>
              </a:rPr>
              <a:t>(/admin)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783080"/>
            <a:ext cx="4251960" cy="105156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Malgun Gothic"/>
              </a:rPr>
              <a:t>Nginx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단일 도메인 진입점 · 경로 기반 리버스 프록시</a:t>
            </a:r>
            <a:br/>
            <a:r>
              <a:rPr sz="1050" b="0">
                <a:solidFill>
                  <a:srgbClr val="FFFFFF"/>
                </a:solidFill>
                <a:latin typeface="Malgun Gothic"/>
              </a:rPr>
              <a:t>(/client, /admin, *.do 라우팅)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2A4A"/>
                </a:solidFill>
                <a:latin typeface="Malgun Gothic"/>
              </a:rPr>
              <a:t>백엔드 (API 게이트웨이 + MSA)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4747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imap-edge  (Spring Boot)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Malgun Gothic"/>
              </a:rPr>
              <a:t>API 게이트웨이 / BFF · SSO(OIDC) 콜백 처리 · JWT accessToken/refreshToken 발급 · MyBatis로 Oracle 데이터 접근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617720"/>
            <a:ext cx="2724912" cy="1051560"/>
          </a:xfrm>
          <a:prstGeom prst="roundRect">
            <a:avLst>
              <a:gd name="adj" fmla="val 8000"/>
            </a:avLst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imap-scheduler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배치 · 스케줄링</a:t>
            </a:r>
            <a:br/>
            <a:r>
              <a:rPr sz="1050" b="0">
                <a:solidFill>
                  <a:srgbClr val="FFFFFF"/>
                </a:solidFill>
                <a:latin typeface="Malgun Gothic"/>
              </a:rPr>
              <a:t>(Python)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6704" y="4617720"/>
            <a:ext cx="2724912" cy="1051560"/>
          </a:xfrm>
          <a:prstGeom prst="roundRect">
            <a:avLst>
              <a:gd name="adj" fmla="val 8000"/>
            </a:avLst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imap-orchestrator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작업 오케스트레이션</a:t>
            </a:r>
            <a:br/>
            <a:r>
              <a:rPr sz="1050" b="0">
                <a:solidFill>
                  <a:srgbClr val="FFFFFF"/>
                </a:solidFill>
                <a:latin typeface="Malgun Gothic"/>
              </a:rPr>
              <a:t>(Python)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4617720"/>
            <a:ext cx="2724912" cy="1051560"/>
          </a:xfrm>
          <a:prstGeom prst="roundRect">
            <a:avLst>
              <a:gd name="adj" fmla="val 8000"/>
            </a:avLst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imap-manager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처리 관리 · 조정</a:t>
            </a:r>
            <a:br/>
            <a:r>
              <a:rPr sz="1050" b="0">
                <a:solidFill>
                  <a:srgbClr val="FFFFFF"/>
                </a:solidFill>
                <a:latin typeface="Malgun Gothic"/>
              </a:rPr>
              <a:t>(Python)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4272" y="4617720"/>
            <a:ext cx="2724912" cy="1051560"/>
          </a:xfrm>
          <a:prstGeom prst="roundRect">
            <a:avLst>
              <a:gd name="adj" fmla="val 8000"/>
            </a:avLst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imap-worker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Malgun Gothic"/>
              </a:rPr>
              <a:t>실제 작업 수행</a:t>
            </a:r>
            <a:br/>
            <a:r>
              <a:rPr sz="1050" b="0">
                <a:solidFill>
                  <a:srgbClr val="FFFFFF"/>
                </a:solidFill>
                <a:latin typeface="Malgun Gothic"/>
              </a:rPr>
              <a:t>(Python)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65376.0" y="4389120"/>
            <a:ext cx="4215384.0" cy="228600"/>
          </a:xfrm>
          <a:prstGeom prst="line">
            <a:avLst/>
          </a:prstGeom>
          <a:ln w="1905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09160.0" y="4389120"/>
            <a:ext cx="1371600.0" cy="228600"/>
          </a:xfrm>
          <a:prstGeom prst="line">
            <a:avLst/>
          </a:prstGeom>
          <a:ln w="1905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080760" y="4389120"/>
            <a:ext cx="1472184.0" cy="228600"/>
          </a:xfrm>
          <a:prstGeom prst="line">
            <a:avLst/>
          </a:prstGeom>
          <a:ln w="1905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080760" y="4389120"/>
            <a:ext cx="4315968.0" cy="228600"/>
          </a:xfrm>
          <a:prstGeom prst="line">
            <a:avLst/>
          </a:prstGeom>
          <a:ln w="1905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4434840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5B6370"/>
                </a:solidFill>
                <a:latin typeface="Malgun Gothic"/>
              </a:rPr>
              <a:t>↑ imap-edge와 내부적으로 연동하는 Python 기반 마이크로서비스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Malgun Gothic"/>
              </a:rPr>
              <a:t>ROUTING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A4A"/>
                </a:solidFill>
                <a:latin typeface="Malgun Gothic"/>
              </a:rPr>
              <a:t>Nginx 경로 기반 라우팅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3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Malgun Gothic"/>
              </a:rPr>
              <a:t>라우팅 규칙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2880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</a:rPr>
              <a:t>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28800"/>
            <a:ext cx="3017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0242B"/>
                </a:solidFill>
                <a:latin typeface="Malgun Gothic"/>
              </a:rPr>
              <a:t>→ 302 리다이렉트 → /client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4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</a:rPr>
              <a:t>/client/*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606040"/>
            <a:ext cx="3017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0242B"/>
                </a:solidFill>
                <a:latin typeface="Malgun Gothic"/>
              </a:rPr>
              <a:t>→ imap-client (Vue3 SPA)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8328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</a:rPr>
              <a:t>/admin/*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383280"/>
            <a:ext cx="3017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0242B"/>
                </a:solidFill>
                <a:latin typeface="Malgun Gothic"/>
              </a:rPr>
              <a:t>→ imap-admin (Vue3 SPA)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2286000" cy="594360"/>
          </a:xfrm>
          <a:prstGeom prst="roundRect">
            <a:avLst>
              <a:gd name="adj" fmla="val 8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onsolas"/>
              </a:rPr>
              <a:t>*.do , /oauth2/**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160520"/>
            <a:ext cx="30175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0242B"/>
                </a:solidFill>
                <a:latin typeface="Malgun Gothic"/>
              </a:rPr>
              <a:t>→ imap-edge (Spring Boot :8083)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6636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5B6370"/>
                </a:solidFill>
                <a:latin typeface="Malgun Gothic"/>
              </a:rPr>
              <a:t>핵심: 세 애플리케이션이 서로 다른 서버(포트)에서 떠 있어도,</a:t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5B6370"/>
                </a:solidFill>
                <a:latin typeface="Malgun Gothic"/>
              </a:rPr>
              <a:t>브라우저 관점에서는 전부 같은 도메인의 하위 경로로 보입니다.</a:t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5B6370"/>
                </a:solidFill>
                <a:latin typeface="Malgun Gothic"/>
              </a:rPr>
              <a:t>→ 이 "동일 오리진" 특성이 뒤에서 설명할 세션 핸드오프의 전제조건입니다.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A"/>
                </a:solidFill>
                <a:latin typeface="Malgun Gothic"/>
              </a:rPr>
              <a:t>nginx.conf 예시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1828800"/>
            <a:ext cx="5303520" cy="4297680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ctr"/>
            <a:r>
              <a:rPr sz="1100">
                <a:solidFill>
                  <a:srgbClr val="D4D8E0"/>
                </a:solidFill>
                <a:latin typeface="Consolas"/>
              </a:rPr>
              <a:t>server {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  listen 80;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  server_name dev.imap.local;</a:t>
            </a:r>
          </a:p>
          <a:p/>
          <a:p>
            <a:r>
              <a:rPr sz="1100">
                <a:solidFill>
                  <a:srgbClr val="D4D8E0"/>
                </a:solidFill>
                <a:latin typeface="Consolas"/>
              </a:rPr>
              <a:t>    location = / {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      return 302 /client;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  }</a:t>
            </a:r>
          </a:p>
          <a:p/>
          <a:p>
            <a:r>
              <a:rPr sz="1100">
                <a:solidFill>
                  <a:srgbClr val="D4D8E0"/>
                </a:solidFill>
                <a:latin typeface="Consolas"/>
              </a:rPr>
              <a:t>    location /client/ {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      proxy_pass http://imap-client:5173/;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  }</a:t>
            </a:r>
          </a:p>
          <a:p/>
          <a:p>
            <a:r>
              <a:rPr sz="1100">
                <a:solidFill>
                  <a:srgbClr val="D4D8E0"/>
                </a:solidFill>
                <a:latin typeface="Consolas"/>
              </a:rPr>
              <a:t>    location /admin/ {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      proxy_pass http://imap-admin:5174/;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  }</a:t>
            </a:r>
          </a:p>
          <a:p/>
          <a:p>
            <a:r>
              <a:rPr sz="1100">
                <a:solidFill>
                  <a:srgbClr val="D4D8E0"/>
                </a:solidFill>
                <a:latin typeface="Consolas"/>
              </a:rPr>
              <a:t>    location ~ \.do$ {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      proxy_pass http://imap-edge:8083;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  }</a:t>
            </a:r>
          </a:p>
          <a:p/>
          <a:p>
            <a:r>
              <a:rPr sz="1100">
                <a:solidFill>
                  <a:srgbClr val="D4D8E0"/>
                </a:solidFill>
                <a:latin typeface="Consolas"/>
              </a:rPr>
              <a:t>    location /oauth2/ {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      proxy_pass http://imap-edge:8083;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  }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1996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06A00"/>
                </a:solidFill>
                <a:latin typeface="Malgun Gothic"/>
              </a:rPr>
              <a:t>※ 예시 설정 — 실제 배포 값에 맞게 조정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Malgun Gothic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A4A"/>
                </a:solidFill>
                <a:latin typeface="Malgun Gothic"/>
              </a:rPr>
              <a:t>최초 진입 → SSO 로그인 → imap-client 렌더링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4 / 9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435608"/>
            <a:ext cx="365760" cy="36576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17320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Malgun Gothic"/>
              </a:rPr>
              <a:t>브라우저가 기본 도메인 접속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399032"/>
            <a:ext cx="6583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B6370"/>
                </a:solidFill>
                <a:latin typeface="Malgun Gothic"/>
              </a:rPr>
              <a:t>https://dev.imap.local/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" y="1819656"/>
            <a:ext cx="25400" cy="29260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2093976"/>
            <a:ext cx="365760" cy="36576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75688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Malgun Gothic"/>
              </a:rPr>
              <a:t>Nginx가 /client 로 리다이렉트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2057400"/>
            <a:ext cx="6583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B6370"/>
                </a:solidFill>
                <a:latin typeface="Malgun Gothic"/>
              </a:rPr>
              <a:t>location = / → return 302 /client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" y="2478024"/>
            <a:ext cx="25400" cy="29260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752344"/>
            <a:ext cx="365760" cy="36576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34056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Malgun Gothic"/>
              </a:rPr>
              <a:t>imap-client 로드, 로그인 안 됨 감지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715768"/>
            <a:ext cx="6583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B6370"/>
                </a:solidFill>
                <a:latin typeface="Malgun Gothic"/>
              </a:rPr>
              <a:t>accessToken 없음 → 로그인 필요 판단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" y="3136392"/>
            <a:ext cx="25400" cy="29260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" y="3410712"/>
            <a:ext cx="365760" cy="36576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392424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Malgun Gothic"/>
              </a:rPr>
              <a:t>OIDC Provider로 리다이렉트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3374136"/>
            <a:ext cx="6583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B6370"/>
                </a:solidFill>
                <a:latin typeface="Malgun Gothic"/>
              </a:rPr>
              <a:t>Authorization Code Flow 시작 (/authorize)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228" y="3794760"/>
            <a:ext cx="25400" cy="29260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2920" y="4069080"/>
            <a:ext cx="365760" cy="36576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050792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Malgun Gothic"/>
              </a:rPr>
              <a:t>인증 완료 → imap-edge 콜백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4032504"/>
            <a:ext cx="6583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B6370"/>
                </a:solidFill>
                <a:latin typeface="Malgun Gothic"/>
              </a:rPr>
              <a:t>id_token 검증(JWKS) → TB_USER 매핑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" y="4453128"/>
            <a:ext cx="25400" cy="29260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" y="4727448"/>
            <a:ext cx="365760" cy="36576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709160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Malgun Gothic"/>
              </a:rPr>
              <a:t>JWT 즉시 발급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66360" y="4690872"/>
            <a:ext cx="6583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B6370"/>
                </a:solidFill>
                <a:latin typeface="Malgun Gothic"/>
              </a:rPr>
              <a:t>accessToken 응답 / refreshToken → HttpOnly 쿠키(Path=/)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" y="5111496"/>
            <a:ext cx="25400" cy="292608"/>
          </a:xfrm>
          <a:prstGeom prst="rect">
            <a:avLst/>
          </a:prstGeom>
          <a:solidFill>
            <a:srgbClr val="D5D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2920" y="5385816"/>
            <a:ext cx="365760" cy="36576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367528"/>
            <a:ext cx="4023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50" b="1" i="0">
                <a:solidFill>
                  <a:srgbClr val="1B2A4A"/>
                </a:solidFill>
                <a:latin typeface="Malgun Gothic"/>
              </a:rPr>
              <a:t>imap-client 최종 화면 렌더링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5349240"/>
            <a:ext cx="6583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 i="0">
                <a:solidFill>
                  <a:srgbClr val="5B6370"/>
                </a:solidFill>
                <a:latin typeface="Malgun Gothic"/>
              </a:rPr>
              <a:t>accessToken → Pinia 저장, 로그인 완료 상태로 진입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Malgun Gothic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A4A"/>
                </a:solidFill>
                <a:latin typeface="Malgun Gothic"/>
              </a:rPr>
              <a:t>GNB "관리자" 버튼 → 화면 전환 (세션 핸드오프)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5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370"/>
                </a:solidFill>
                <a:latin typeface="Malgun Gothic"/>
              </a:rPr>
              <a:t>이미 로그인된 사용자가 imap-client에서 imap-admin으로 넘어갈 때, accessToken을 sessionStorage에 태워 같은 탭 안에서 화면만 전환합니다.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① 버튼 클릭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사용자가 imap-client 상단 GNB의 "관리자" 버튼 클릭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2697480"/>
            <a:ext cx="0" cy="146304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843784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② 토큰을 sessionStorage로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Pinia의 accessToken → sessionStorage.setItem('access_token', token)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529584"/>
            <a:ext cx="0" cy="146304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3675888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③ 같은 탭에서 페이지 이동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document.location = '/admin'  (새 탭이 아닌 현재 탭 이동)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4361688"/>
            <a:ext cx="0" cy="146304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4507992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④ 동일 오리진 유지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dev.imap.local 안에서의 경로 이동이므로 sessionStorage가 그대로 유지됨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5193792"/>
            <a:ext cx="0" cy="146304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" y="5340096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50" b="1">
                <a:solidFill>
                  <a:srgbClr val="FFFFFF"/>
                </a:solidFill>
                <a:latin typeface="Malgun Gothic"/>
              </a:rPr>
              <a:t>⑤ refreshToken 쿠키 자동 포함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Malgun Gothic"/>
              </a:rPr>
              <a:t>HttpOnly 쿠키는 Path=/ 이므로 /admin 요청에도 별도 처리 없이 자동 전송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98932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ctr"/>
            <a:r>
              <a:rPr sz="1100">
                <a:solidFill>
                  <a:srgbClr val="D4D8E0"/>
                </a:solidFill>
                <a:latin typeface="Consolas"/>
              </a:rPr>
              <a:t>// imap-client — GNB 관리자 버튼 클릭 핸들러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sessionStorage.setItem('access_token', authStore.accessToken)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document.location = '/admin'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Malgun Gothic"/>
              </a:rP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A4A"/>
                </a:solidFill>
                <a:latin typeface="Malgun Gothic"/>
              </a:rPr>
              <a:t>imap-admin — 토큰 수신 · Pinia 저장 · 즉시 삭제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6 / 9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1435608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17320"/>
            <a:ext cx="3291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B2A4A"/>
                </a:solidFill>
                <a:latin typeface="Malgun Gothic"/>
              </a:rPr>
              <a:t>imap-admin 앱 부팅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1399032"/>
            <a:ext cx="7315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370"/>
                </a:solidFill>
                <a:latin typeface="Malgun Gothic"/>
              </a:rPr>
              <a:t>/admin 경로로 진입, 새 SPA 인스턴스가 로드됨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276856"/>
            <a:ext cx="365760" cy="36576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58568"/>
            <a:ext cx="3291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B2A4A"/>
                </a:solidFill>
                <a:latin typeface="Malgun Gothic"/>
              </a:rPr>
              <a:t>sessionStorage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2240280"/>
            <a:ext cx="7315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370"/>
                </a:solidFill>
                <a:latin typeface="Malgun Gothic"/>
              </a:rPr>
              <a:t>sessionStorage.getItem('access_token') 조회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118104"/>
            <a:ext cx="365760" cy="365760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99816"/>
            <a:ext cx="3291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B2A4A"/>
                </a:solidFill>
                <a:latin typeface="Malgun Gothic"/>
              </a:rPr>
              <a:t>자신의 Pinia에 저장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3081528"/>
            <a:ext cx="7315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370"/>
                </a:solidFill>
                <a:latin typeface="Malgun Gothic"/>
              </a:rPr>
              <a:t>authStore.setAccessToken(token) — imap-admin 자체 상태로 편입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959352"/>
            <a:ext cx="365760" cy="365760"/>
          </a:xfrm>
          <a:prstGeom prst="ellipse">
            <a:avLst/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941064"/>
            <a:ext cx="3291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B2A4A"/>
                </a:solidFill>
                <a:latin typeface="Malgun Gothic"/>
              </a:rPr>
              <a:t>sessionStorage 즉시 삭제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3922776"/>
            <a:ext cx="7315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370"/>
                </a:solidFill>
                <a:latin typeface="Malgun Gothic"/>
              </a:rPr>
              <a:t>sessionStorage.removeItem('access_token') — 1회성 전달, 잔존 노출 차단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4800600"/>
            <a:ext cx="365760" cy="365760"/>
          </a:xfrm>
          <a:prstGeom prst="ellipse">
            <a:avLst/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782312"/>
            <a:ext cx="32918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B2A4A"/>
                </a:solidFill>
                <a:latin typeface="Malgun Gothic"/>
              </a:rPr>
              <a:t>이후 API 호출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4764024"/>
            <a:ext cx="7315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B6370"/>
                </a:solidFill>
                <a:latin typeface="Malgun Gothic"/>
              </a:rPr>
              <a:t>Authorization: Bearer &lt;accessToken&gt; 헤더로 imap-edge의 request.do 호출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623560"/>
            <a:ext cx="11155680" cy="1051560"/>
          </a:xfrm>
          <a:prstGeom prst="roundRect">
            <a:avLst>
              <a:gd name="adj" fmla="val 8000"/>
            </a:avLst>
          </a:prstGeom>
          <a:solidFill>
            <a:srgbClr val="1E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 tIns="101600" bIns="101600"/>
          <a:lstStyle/>
          <a:p>
            <a:pPr algn="ctr"/>
            <a:r>
              <a:rPr sz="1100">
                <a:solidFill>
                  <a:srgbClr val="D4D8E0"/>
                </a:solidFill>
                <a:latin typeface="Consolas"/>
              </a:rPr>
              <a:t>// imap-admin — App.vue onMounted() 혹은 router 진입 가드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const token = sessionStorage.getItem('access_token')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if (token) {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authStore.setAccessToken(token)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  sessionStorage.removeItem('access_token')   // 1회성 — 즉시 삭제</a:t>
            </a:r>
          </a:p>
          <a:p>
            <a:r>
              <a:rPr sz="1100">
                <a:solidFill>
                  <a:srgbClr val="D4D8E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Malgun Gothic"/>
              </a:rP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A4A"/>
                </a:solidFill>
                <a:latin typeface="Malgun Gothic"/>
              </a:rPr>
              <a:t>imap-admin 데이터 조회 — request.do → MyBatis (기존 구조 재사용)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7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370"/>
                </a:solidFill>
                <a:latin typeface="Malgun Gothic"/>
              </a:rPr>
              <a:t>imap-admin은 imap-client와 완전히 동일한 imap-edge 인증·API 구조를 그대로 재사용합니다. 화면만 다를 뿐 백엔드 접근 방식은 하나입니다.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imap-admin</a:t>
            </a:r>
          </a:p>
          <a:p>
            <a:pPr algn="ctr"/>
            <a:r>
              <a:rPr sz="1080" b="0">
                <a:solidFill>
                  <a:srgbClr val="FFFFFF"/>
                </a:solidFill>
                <a:latin typeface="Malgun Gothic"/>
              </a:rPr>
              <a:t>Authorization: Bearer &lt;accessToken&gt; 로 POST /requestQuery.do (또는 requestService.do)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" y="2651760"/>
            <a:ext cx="0" cy="128016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920" y="2779776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imap-edge · JwtAuthFilter</a:t>
            </a:r>
          </a:p>
          <a:p>
            <a:pPr algn="ctr"/>
            <a:r>
              <a:rPr sz="1080" b="0">
                <a:solidFill>
                  <a:srgbClr val="FFFFFF"/>
                </a:solidFill>
                <a:latin typeface="Malgun Gothic"/>
              </a:rPr>
              <a:t>토큰 서명·만료 검증 → SessionVO 생성 → HttpSession 저장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3465576"/>
            <a:ext cx="0" cy="128016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920" y="3593592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imap-edge · TechyuCommonInterceptor</a:t>
            </a:r>
          </a:p>
          <a:p>
            <a:pPr algn="ctr"/>
            <a:r>
              <a:rPr sz="1080" b="0">
                <a:solidFill>
                  <a:srgbClr val="FFFFFF"/>
                </a:solidFill>
                <a:latin typeface="Malgun Gothic"/>
              </a:rPr>
              <a:t>세션의 SessionVO 존재 확인 → 통과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8680" y="4279392"/>
            <a:ext cx="0" cy="128016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4407408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imap-edge · TechyuCommonController</a:t>
            </a:r>
          </a:p>
          <a:p>
            <a:pPr algn="ctr"/>
            <a:r>
              <a:rPr sz="1080" b="0">
                <a:solidFill>
                  <a:srgbClr val="FFFFFF"/>
                </a:solidFill>
                <a:latin typeface="Malgun Gothic"/>
              </a:rPr>
              <a:t>checkAuth() → 권한 확인 → commonService.requestQuery 호출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8680" y="5093208"/>
            <a:ext cx="0" cy="128016"/>
          </a:xfrm>
          <a:prstGeom prst="line">
            <a:avLst/>
          </a:prstGeom>
          <a:ln w="2540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920" y="5221224"/>
            <a:ext cx="11155680" cy="685800"/>
          </a:xfrm>
          <a:prstGeom prst="roundRect">
            <a:avLst>
              <a:gd name="adj" fmla="val 8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</a:rPr>
              <a:t>imap-edge · MyBatis → Oracle</a:t>
            </a:r>
          </a:p>
          <a:p>
            <a:pPr algn="ctr"/>
            <a:r>
              <a:rPr sz="1080" b="0">
                <a:solidFill>
                  <a:srgbClr val="FFFFFF"/>
                </a:solidFill>
                <a:latin typeface="Malgun Gothic"/>
              </a:rPr>
              <a:t>queryId 기준 TB_* 테이블 SELECT/INSERT/UPDATE/DELETE 실행 → 결과 반환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9893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8E3E"/>
                </a:solidFill>
                <a:latin typeface="Malgun Gothic"/>
              </a:rPr>
              <a:t>→ imap-client용으로 만든 인증·CRUD 게이트웨이가 imap-admin에도 코드 변경 없이 그대로 적용됩니다.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Malgun Gothic"/>
              </a:rPr>
              <a:t>KEY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A4A"/>
                </a:solidFill>
                <a:latin typeface="Malgun Gothic"/>
              </a:rPr>
              <a:t>이 구조가 성립하는 이유 — 동일 오리진(Same-Origin)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8 /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B6370"/>
                </a:solidFill>
                <a:latin typeface="Malgun Gothic"/>
              </a:rPr>
              <a:t>sessionStorage는 "오리진(스킴+호스트+포트)" 단위로 격리됩니다. /client와 /admin이 같은 도메인의 하위 경로이기 때문에 핸드오프가 가능합니다.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65960"/>
            <a:ext cx="5349240" cy="502920"/>
          </a:xfrm>
          <a:prstGeom prst="roundRect">
            <a:avLst>
              <a:gd name="adj" fmla="val 8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5349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algun Gothic"/>
              </a:rPr>
              <a:t>✔ 지금 구조 — 경로 기반 (동일 오리진)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5349240" cy="2697480"/>
          </a:xfrm>
          <a:prstGeom prst="roundRect">
            <a:avLst>
              <a:gd name="adj" fmla="val 8000"/>
            </a:avLst>
          </a:prstGeom>
          <a:solidFill>
            <a:srgbClr val="E7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4800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A4A"/>
                </a:solidFill>
                <a:latin typeface="Malgun Gothic"/>
              </a:rPr>
              <a:t>dev.imap.local/client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A4A"/>
                </a:solidFill>
                <a:latin typeface="Malgun Gothic"/>
              </a:rPr>
              <a:t>dev.imap.local/admin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A4A"/>
                </a:solidFill>
                <a:latin typeface="Malgun Gothic"/>
              </a:rPr>
              <a:t>→ 스킴·호스트·포트가 모두 동일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A4A"/>
                </a:solidFill>
                <a:latin typeface="Malgun Gothic"/>
              </a:rPr>
              <a:t>→ 같은 탭에서 이동해도 sessionStorage 유지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B2A4A"/>
                </a:solidFill>
                <a:latin typeface="Malgun Gothic"/>
              </a:rPr>
              <a:t>→ document.location 이동만으로 핸드오프 성립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65960"/>
            <a:ext cx="5349240" cy="502920"/>
          </a:xfrm>
          <a:prstGeom prst="roundRect">
            <a:avLst>
              <a:gd name="adj" fmla="val 8000"/>
            </a:avLst>
          </a:prstGeom>
          <a:solidFill>
            <a:srgbClr val="C52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965960"/>
            <a:ext cx="53492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algun Gothic"/>
              </a:rPr>
              <a:t>✘ 만약 서브도메인/다른 포트였다면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468880"/>
            <a:ext cx="5349240" cy="2697480"/>
          </a:xfrm>
          <a:prstGeom prst="roundRect">
            <a:avLst>
              <a:gd name="adj" fmla="val 8000"/>
            </a:avLst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697480"/>
            <a:ext cx="4800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client.imap.local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admin.imap.local  (또는 다른 포트)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→ 서로 다른 오리진으로 취급됨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→ sessionStorage 공유 불가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→ postMessage, 별도 토큰 교환 API 등</a:t>
            </a:r>
          </a:p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   추가 메커니즘이 필요했을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864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5B6370"/>
                </a:solidFill>
                <a:latin typeface="Malgun Gothic"/>
              </a:rPr>
              <a:t>참고: refreshToken(HttpOnly 쿠키)은 애초에 이 문제와 무관합니다 — 쿠키는 Path=/ 로 도메인 전체에 적용되므로</a:t>
            </a:r>
          </a:p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5B6370"/>
                </a:solidFill>
                <a:latin typeface="Malgun Gothic"/>
              </a:rPr>
              <a:t>/client와 /admin 어디서 요청하든 브라우저가 자동으로 실어 보냅니다. 핸드오프가 필요한 건 accessToken뿐입니다.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7C86"/>
                </a:solidFill>
                <a:latin typeface="Malgun Gothic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1B2A4A"/>
                </a:solidFill>
                <a:latin typeface="Malgun Gothic"/>
              </a:rPr>
              <a:t>전체 흐름 요약 (End-to-End)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52144"/>
            <a:ext cx="914400" cy="381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5B6370"/>
                </a:solidFill>
                <a:latin typeface="Malgun Gothic"/>
              </a:rPr>
              <a:t>9 /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38328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B2A4A"/>
                </a:solidFill>
                <a:latin typeface="Malgun Gothic"/>
              </a:rPr>
              <a:t>기본 도메인 접속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80" b="0" i="0">
                <a:solidFill>
                  <a:srgbClr val="5B6370"/>
                </a:solidFill>
                <a:latin typeface="Malgun Gothic"/>
              </a:rPr>
              <a:t>Nginx → /client 리다이렉트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2537460.0"/>
            <a:ext cx="109728" cy="0.0"/>
          </a:xfrm>
          <a:prstGeom prst="line">
            <a:avLst/>
          </a:prstGeom>
          <a:ln w="1905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395728" y="182880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338328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B2A4A"/>
                </a:solidFill>
                <a:latin typeface="Malgun Gothic"/>
              </a:rPr>
              <a:t>SSO 로그인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393192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80" b="0" i="0">
                <a:solidFill>
                  <a:srgbClr val="5B6370"/>
                </a:solidFill>
                <a:latin typeface="Malgun Gothic"/>
              </a:rPr>
              <a:t>OIDC 인증 → imap-edge가 id_token 검증 → JWT 발급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78808" y="2537460.0"/>
            <a:ext cx="109728" cy="0.0"/>
          </a:xfrm>
          <a:prstGeom prst="line">
            <a:avLst/>
          </a:prstGeom>
          <a:ln w="1905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88536" y="182880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8536" y="338328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B2A4A"/>
                </a:solidFill>
                <a:latin typeface="Malgun Gothic"/>
              </a:rPr>
              <a:t>imap-client 렌더링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393192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80" b="0" i="0">
                <a:solidFill>
                  <a:srgbClr val="5B6370"/>
                </a:solidFill>
                <a:latin typeface="Malgun Gothic"/>
              </a:rPr>
              <a:t>accessToken → Pinia / refreshToken → HttpOnly 쿠키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71616" y="2537460.0"/>
            <a:ext cx="109728" cy="0.0"/>
          </a:xfrm>
          <a:prstGeom prst="line">
            <a:avLst/>
          </a:prstGeom>
          <a:ln w="1905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181344" y="182880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338328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B2A4A"/>
                </a:solidFill>
                <a:latin typeface="Malgun Gothic"/>
              </a:rPr>
              <a:t>GNB 버튼 클릭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393192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80" b="0" i="0">
                <a:solidFill>
                  <a:srgbClr val="5B6370"/>
                </a:solidFill>
                <a:latin typeface="Malgun Gothic"/>
              </a:rPr>
              <a:t>accessToken → sessionStorage 저장 → /admin 이동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64424" y="2537460.0"/>
            <a:ext cx="109728" cy="0.0"/>
          </a:xfrm>
          <a:prstGeom prst="line">
            <a:avLst/>
          </a:prstGeom>
          <a:ln w="1905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074152" y="182880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B0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74152" y="338328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B2A4A"/>
                </a:solidFill>
                <a:latin typeface="Malgun Gothic"/>
              </a:rPr>
              <a:t>imap-admin 진입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4152" y="393192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80" b="0" i="0">
                <a:solidFill>
                  <a:srgbClr val="5B6370"/>
                </a:solidFill>
                <a:latin typeface="Malgun Gothic"/>
              </a:rPr>
              <a:t>sessionStorage → Pinia 저장 → sessionStorage 삭제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857232" y="2537460.0"/>
            <a:ext cx="109728" cy="0.0"/>
          </a:xfrm>
          <a:prstGeom prst="line">
            <a:avLst/>
          </a:prstGeom>
          <a:ln w="19050">
            <a:solidFill>
              <a:srgbClr val="5B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966960" y="1828800"/>
            <a:ext cx="1783080" cy="1417320"/>
          </a:xfrm>
          <a:prstGeom prst="roundRect">
            <a:avLst>
              <a:gd name="adj" fmla="val 8000"/>
            </a:avLst>
          </a:prstGeom>
          <a:solidFill>
            <a:srgbClr val="1E8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20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3383280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1B2A4A"/>
                </a:solidFill>
                <a:latin typeface="Malgun Gothic"/>
              </a:rPr>
              <a:t>데이터 조회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931920"/>
            <a:ext cx="1783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980" b="0" i="0">
                <a:solidFill>
                  <a:srgbClr val="5B6370"/>
                </a:solidFill>
                <a:latin typeface="Malgun Gothic"/>
              </a:rPr>
              <a:t>request.do → imap-edge → MyBatis → Oracle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44068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핵심 요약: Nginx가 하나의 도메인 아래 두 SPA(imap-client / imap-admin)를 경로로 분리 서빙하고,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imap-edge 하나가 SSO 로그인·JWT 발급·데이터 접근(request.do)을 두 화면에 동일하게 제공합니다.</a:t>
            </a:r>
          </a:p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20242B"/>
                </a:solidFill>
                <a:latin typeface="Malgun Gothic"/>
              </a:rPr>
              <a:t>화면 전환은 sessionStorage를 통한 1회성 accessToken 핸드오프로 처리됩니다.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